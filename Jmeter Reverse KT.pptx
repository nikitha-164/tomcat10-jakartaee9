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7" r:id="rId10"/>
    <p:sldId id="265" r:id="rId11"/>
    <p:sldId id="266"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0EBC5-68C6-D799-3E62-DE25B5A0A4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A06AAB-AE17-0663-B06E-2DA15B47B2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1585443-A21E-F2A5-561C-A09F5FF1160A}"/>
              </a:ext>
            </a:extLst>
          </p:cNvPr>
          <p:cNvSpPr>
            <a:spLocks noGrp="1"/>
          </p:cNvSpPr>
          <p:nvPr>
            <p:ph type="dt" sz="half" idx="10"/>
          </p:nvPr>
        </p:nvSpPr>
        <p:spPr/>
        <p:txBody>
          <a:bodyPr/>
          <a:lstStyle/>
          <a:p>
            <a:fld id="{C19CBF55-B823-49EC-977E-C8319C0375D1}" type="datetimeFigureOut">
              <a:rPr lang="en-IN" smtClean="0"/>
              <a:t>03-06-2026</a:t>
            </a:fld>
            <a:endParaRPr lang="en-IN"/>
          </a:p>
        </p:txBody>
      </p:sp>
      <p:sp>
        <p:nvSpPr>
          <p:cNvPr id="5" name="Footer Placeholder 4">
            <a:extLst>
              <a:ext uri="{FF2B5EF4-FFF2-40B4-BE49-F238E27FC236}">
                <a16:creationId xmlns:a16="http://schemas.microsoft.com/office/drawing/2014/main" id="{BEF77A8A-46A5-C97A-6124-C28E9E5A88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FD4B7D-9985-4707-3FB1-A128779723F0}"/>
              </a:ext>
            </a:extLst>
          </p:cNvPr>
          <p:cNvSpPr>
            <a:spLocks noGrp="1"/>
          </p:cNvSpPr>
          <p:nvPr>
            <p:ph type="sldNum" sz="quarter" idx="12"/>
          </p:nvPr>
        </p:nvSpPr>
        <p:spPr/>
        <p:txBody>
          <a:bodyPr/>
          <a:lstStyle/>
          <a:p>
            <a:fld id="{3DF73CFD-C37D-4482-BD12-3A90F2A72A01}" type="slidenum">
              <a:rPr lang="en-IN" smtClean="0"/>
              <a:t>‹#›</a:t>
            </a:fld>
            <a:endParaRPr lang="en-IN"/>
          </a:p>
        </p:txBody>
      </p:sp>
    </p:spTree>
    <p:extLst>
      <p:ext uri="{BB962C8B-B14F-4D97-AF65-F5344CB8AC3E}">
        <p14:creationId xmlns:p14="http://schemas.microsoft.com/office/powerpoint/2010/main" val="85025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2A102-D0C0-B27B-F59E-9D45F5B9D9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65DCAA-A5E5-8C11-329E-124F07EFCE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642273-786F-DA0B-A3CE-59EBFE8BBF77}"/>
              </a:ext>
            </a:extLst>
          </p:cNvPr>
          <p:cNvSpPr>
            <a:spLocks noGrp="1"/>
          </p:cNvSpPr>
          <p:nvPr>
            <p:ph type="dt" sz="half" idx="10"/>
          </p:nvPr>
        </p:nvSpPr>
        <p:spPr/>
        <p:txBody>
          <a:bodyPr/>
          <a:lstStyle/>
          <a:p>
            <a:fld id="{C19CBF55-B823-49EC-977E-C8319C0375D1}" type="datetimeFigureOut">
              <a:rPr lang="en-IN" smtClean="0"/>
              <a:t>03-06-2026</a:t>
            </a:fld>
            <a:endParaRPr lang="en-IN"/>
          </a:p>
        </p:txBody>
      </p:sp>
      <p:sp>
        <p:nvSpPr>
          <p:cNvPr id="5" name="Footer Placeholder 4">
            <a:extLst>
              <a:ext uri="{FF2B5EF4-FFF2-40B4-BE49-F238E27FC236}">
                <a16:creationId xmlns:a16="http://schemas.microsoft.com/office/drawing/2014/main" id="{3623CA6C-FA3E-732E-B09B-57455458F9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779B19-AD7D-61B0-0CCF-9DC8AD985607}"/>
              </a:ext>
            </a:extLst>
          </p:cNvPr>
          <p:cNvSpPr>
            <a:spLocks noGrp="1"/>
          </p:cNvSpPr>
          <p:nvPr>
            <p:ph type="sldNum" sz="quarter" idx="12"/>
          </p:nvPr>
        </p:nvSpPr>
        <p:spPr/>
        <p:txBody>
          <a:bodyPr/>
          <a:lstStyle/>
          <a:p>
            <a:fld id="{3DF73CFD-C37D-4482-BD12-3A90F2A72A01}" type="slidenum">
              <a:rPr lang="en-IN" smtClean="0"/>
              <a:t>‹#›</a:t>
            </a:fld>
            <a:endParaRPr lang="en-IN"/>
          </a:p>
        </p:txBody>
      </p:sp>
    </p:spTree>
    <p:extLst>
      <p:ext uri="{BB962C8B-B14F-4D97-AF65-F5344CB8AC3E}">
        <p14:creationId xmlns:p14="http://schemas.microsoft.com/office/powerpoint/2010/main" val="293594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C1004-BC95-AF95-2AFB-A76C7F8364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3F655A5-6DFD-8008-930B-C892EC2EA6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E283DD-8CC8-B7D5-F6EB-3E10C08D75C2}"/>
              </a:ext>
            </a:extLst>
          </p:cNvPr>
          <p:cNvSpPr>
            <a:spLocks noGrp="1"/>
          </p:cNvSpPr>
          <p:nvPr>
            <p:ph type="dt" sz="half" idx="10"/>
          </p:nvPr>
        </p:nvSpPr>
        <p:spPr/>
        <p:txBody>
          <a:bodyPr/>
          <a:lstStyle/>
          <a:p>
            <a:fld id="{C19CBF55-B823-49EC-977E-C8319C0375D1}" type="datetimeFigureOut">
              <a:rPr lang="en-IN" smtClean="0"/>
              <a:t>03-06-2026</a:t>
            </a:fld>
            <a:endParaRPr lang="en-IN"/>
          </a:p>
        </p:txBody>
      </p:sp>
      <p:sp>
        <p:nvSpPr>
          <p:cNvPr id="5" name="Footer Placeholder 4">
            <a:extLst>
              <a:ext uri="{FF2B5EF4-FFF2-40B4-BE49-F238E27FC236}">
                <a16:creationId xmlns:a16="http://schemas.microsoft.com/office/drawing/2014/main" id="{AEEE8287-27CE-5D82-50C4-CB810846FA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C0214B-661F-7135-6C72-192DAA18762E}"/>
              </a:ext>
            </a:extLst>
          </p:cNvPr>
          <p:cNvSpPr>
            <a:spLocks noGrp="1"/>
          </p:cNvSpPr>
          <p:nvPr>
            <p:ph type="sldNum" sz="quarter" idx="12"/>
          </p:nvPr>
        </p:nvSpPr>
        <p:spPr/>
        <p:txBody>
          <a:bodyPr/>
          <a:lstStyle/>
          <a:p>
            <a:fld id="{3DF73CFD-C37D-4482-BD12-3A90F2A72A01}" type="slidenum">
              <a:rPr lang="en-IN" smtClean="0"/>
              <a:t>‹#›</a:t>
            </a:fld>
            <a:endParaRPr lang="en-IN"/>
          </a:p>
        </p:txBody>
      </p:sp>
    </p:spTree>
    <p:extLst>
      <p:ext uri="{BB962C8B-B14F-4D97-AF65-F5344CB8AC3E}">
        <p14:creationId xmlns:p14="http://schemas.microsoft.com/office/powerpoint/2010/main" val="43165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1064E-3D01-8590-039F-31BC7EC396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ED275C-BEC0-31B0-7E6D-E5FC99289E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7744E15-8121-44B3-D02D-93380CCEE6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318428-BD7E-67FB-11BC-883050A1DB6F}"/>
              </a:ext>
            </a:extLst>
          </p:cNvPr>
          <p:cNvSpPr>
            <a:spLocks noGrp="1"/>
          </p:cNvSpPr>
          <p:nvPr>
            <p:ph type="dt" sz="half" idx="10"/>
          </p:nvPr>
        </p:nvSpPr>
        <p:spPr/>
        <p:txBody>
          <a:bodyPr/>
          <a:lstStyle/>
          <a:p>
            <a:fld id="{C19CBF55-B823-49EC-977E-C8319C0375D1}" type="datetimeFigureOut">
              <a:rPr lang="en-IN" smtClean="0"/>
              <a:t>03-06-2026</a:t>
            </a:fld>
            <a:endParaRPr lang="en-IN"/>
          </a:p>
        </p:txBody>
      </p:sp>
      <p:sp>
        <p:nvSpPr>
          <p:cNvPr id="6" name="Footer Placeholder 5">
            <a:extLst>
              <a:ext uri="{FF2B5EF4-FFF2-40B4-BE49-F238E27FC236}">
                <a16:creationId xmlns:a16="http://schemas.microsoft.com/office/drawing/2014/main" id="{CFF3520A-A61E-36E3-91C0-9632AC0734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2372DA-ECD1-4BF7-E83D-7EACB6559892}"/>
              </a:ext>
            </a:extLst>
          </p:cNvPr>
          <p:cNvSpPr>
            <a:spLocks noGrp="1"/>
          </p:cNvSpPr>
          <p:nvPr>
            <p:ph type="sldNum" sz="quarter" idx="12"/>
          </p:nvPr>
        </p:nvSpPr>
        <p:spPr/>
        <p:txBody>
          <a:bodyPr/>
          <a:lstStyle/>
          <a:p>
            <a:fld id="{3DF73CFD-C37D-4482-BD12-3A90F2A72A01}" type="slidenum">
              <a:rPr lang="en-IN" smtClean="0"/>
              <a:t>‹#›</a:t>
            </a:fld>
            <a:endParaRPr lang="en-IN"/>
          </a:p>
        </p:txBody>
      </p:sp>
    </p:spTree>
    <p:extLst>
      <p:ext uri="{BB962C8B-B14F-4D97-AF65-F5344CB8AC3E}">
        <p14:creationId xmlns:p14="http://schemas.microsoft.com/office/powerpoint/2010/main" val="1549245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825D9-B712-7A74-3BC3-23F58587BE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054951-E60D-36B1-56BB-4FB7DCADE9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6FACEE-3395-AE46-14A3-7BC3879F01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645488-0441-EE2E-8925-6A637C8387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C3B483-DAED-4C31-9F9E-C61842EEA4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891150E-CE32-464E-C3FF-1C3C1318E484}"/>
              </a:ext>
            </a:extLst>
          </p:cNvPr>
          <p:cNvSpPr>
            <a:spLocks noGrp="1"/>
          </p:cNvSpPr>
          <p:nvPr>
            <p:ph type="dt" sz="half" idx="10"/>
          </p:nvPr>
        </p:nvSpPr>
        <p:spPr/>
        <p:txBody>
          <a:bodyPr/>
          <a:lstStyle/>
          <a:p>
            <a:fld id="{C19CBF55-B823-49EC-977E-C8319C0375D1}" type="datetimeFigureOut">
              <a:rPr lang="en-IN" smtClean="0"/>
              <a:t>03-06-2026</a:t>
            </a:fld>
            <a:endParaRPr lang="en-IN"/>
          </a:p>
        </p:txBody>
      </p:sp>
      <p:sp>
        <p:nvSpPr>
          <p:cNvPr id="8" name="Footer Placeholder 7">
            <a:extLst>
              <a:ext uri="{FF2B5EF4-FFF2-40B4-BE49-F238E27FC236}">
                <a16:creationId xmlns:a16="http://schemas.microsoft.com/office/drawing/2014/main" id="{502933C3-2806-8BB1-9BAB-505DF48B3EA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D34630F-3787-F195-680F-8C6B30AEEA12}"/>
              </a:ext>
            </a:extLst>
          </p:cNvPr>
          <p:cNvSpPr>
            <a:spLocks noGrp="1"/>
          </p:cNvSpPr>
          <p:nvPr>
            <p:ph type="sldNum" sz="quarter" idx="12"/>
          </p:nvPr>
        </p:nvSpPr>
        <p:spPr/>
        <p:txBody>
          <a:bodyPr/>
          <a:lstStyle/>
          <a:p>
            <a:fld id="{3DF73CFD-C37D-4482-BD12-3A90F2A72A01}" type="slidenum">
              <a:rPr lang="en-IN" smtClean="0"/>
              <a:t>‹#›</a:t>
            </a:fld>
            <a:endParaRPr lang="en-IN"/>
          </a:p>
        </p:txBody>
      </p:sp>
    </p:spTree>
    <p:extLst>
      <p:ext uri="{BB962C8B-B14F-4D97-AF65-F5344CB8AC3E}">
        <p14:creationId xmlns:p14="http://schemas.microsoft.com/office/powerpoint/2010/main" val="3409812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F549-C1A8-CD51-8C9D-327EB7058F6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A68BFF8-4ED7-E4E3-9E7F-2E61EAB60550}"/>
              </a:ext>
            </a:extLst>
          </p:cNvPr>
          <p:cNvSpPr>
            <a:spLocks noGrp="1"/>
          </p:cNvSpPr>
          <p:nvPr>
            <p:ph type="dt" sz="half" idx="10"/>
          </p:nvPr>
        </p:nvSpPr>
        <p:spPr/>
        <p:txBody>
          <a:bodyPr/>
          <a:lstStyle/>
          <a:p>
            <a:fld id="{C19CBF55-B823-49EC-977E-C8319C0375D1}" type="datetimeFigureOut">
              <a:rPr lang="en-IN" smtClean="0"/>
              <a:t>03-06-2026</a:t>
            </a:fld>
            <a:endParaRPr lang="en-IN"/>
          </a:p>
        </p:txBody>
      </p:sp>
      <p:sp>
        <p:nvSpPr>
          <p:cNvPr id="4" name="Footer Placeholder 3">
            <a:extLst>
              <a:ext uri="{FF2B5EF4-FFF2-40B4-BE49-F238E27FC236}">
                <a16:creationId xmlns:a16="http://schemas.microsoft.com/office/drawing/2014/main" id="{F425DDCC-4E8E-099C-36CE-E06A393D59E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16030CA-290F-F393-6073-F6EBB10CEC14}"/>
              </a:ext>
            </a:extLst>
          </p:cNvPr>
          <p:cNvSpPr>
            <a:spLocks noGrp="1"/>
          </p:cNvSpPr>
          <p:nvPr>
            <p:ph type="sldNum" sz="quarter" idx="12"/>
          </p:nvPr>
        </p:nvSpPr>
        <p:spPr/>
        <p:txBody>
          <a:bodyPr/>
          <a:lstStyle/>
          <a:p>
            <a:fld id="{3DF73CFD-C37D-4482-BD12-3A90F2A72A01}" type="slidenum">
              <a:rPr lang="en-IN" smtClean="0"/>
              <a:t>‹#›</a:t>
            </a:fld>
            <a:endParaRPr lang="en-IN"/>
          </a:p>
        </p:txBody>
      </p:sp>
    </p:spTree>
    <p:extLst>
      <p:ext uri="{BB962C8B-B14F-4D97-AF65-F5344CB8AC3E}">
        <p14:creationId xmlns:p14="http://schemas.microsoft.com/office/powerpoint/2010/main" val="4227111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F5B05D-F834-C8AF-C9AC-259B657710D6}"/>
              </a:ext>
            </a:extLst>
          </p:cNvPr>
          <p:cNvSpPr>
            <a:spLocks noGrp="1"/>
          </p:cNvSpPr>
          <p:nvPr>
            <p:ph type="dt" sz="half" idx="10"/>
          </p:nvPr>
        </p:nvSpPr>
        <p:spPr/>
        <p:txBody>
          <a:bodyPr/>
          <a:lstStyle/>
          <a:p>
            <a:fld id="{C19CBF55-B823-49EC-977E-C8319C0375D1}" type="datetimeFigureOut">
              <a:rPr lang="en-IN" smtClean="0"/>
              <a:t>03-06-2026</a:t>
            </a:fld>
            <a:endParaRPr lang="en-IN"/>
          </a:p>
        </p:txBody>
      </p:sp>
      <p:sp>
        <p:nvSpPr>
          <p:cNvPr id="3" name="Footer Placeholder 2">
            <a:extLst>
              <a:ext uri="{FF2B5EF4-FFF2-40B4-BE49-F238E27FC236}">
                <a16:creationId xmlns:a16="http://schemas.microsoft.com/office/drawing/2014/main" id="{9B1B85AD-BE80-E702-1483-47754C5647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370C76E-6C21-8965-4D06-9D587C633D2A}"/>
              </a:ext>
            </a:extLst>
          </p:cNvPr>
          <p:cNvSpPr>
            <a:spLocks noGrp="1"/>
          </p:cNvSpPr>
          <p:nvPr>
            <p:ph type="sldNum" sz="quarter" idx="12"/>
          </p:nvPr>
        </p:nvSpPr>
        <p:spPr/>
        <p:txBody>
          <a:bodyPr/>
          <a:lstStyle/>
          <a:p>
            <a:fld id="{3DF73CFD-C37D-4482-BD12-3A90F2A72A01}" type="slidenum">
              <a:rPr lang="en-IN" smtClean="0"/>
              <a:t>‹#›</a:t>
            </a:fld>
            <a:endParaRPr lang="en-IN"/>
          </a:p>
        </p:txBody>
      </p:sp>
    </p:spTree>
    <p:extLst>
      <p:ext uri="{BB962C8B-B14F-4D97-AF65-F5344CB8AC3E}">
        <p14:creationId xmlns:p14="http://schemas.microsoft.com/office/powerpoint/2010/main" val="1611768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D8F2D-E3E4-5841-E5D9-CF9605DFDD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301658-F8C6-E6C6-B19C-165AD0DDDA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4F0CE4-23CB-714D-FAA3-4D29C885CE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BC3A2-0C2B-CC7C-0D8F-D4A3F81A18ED}"/>
              </a:ext>
            </a:extLst>
          </p:cNvPr>
          <p:cNvSpPr>
            <a:spLocks noGrp="1"/>
          </p:cNvSpPr>
          <p:nvPr>
            <p:ph type="dt" sz="half" idx="10"/>
          </p:nvPr>
        </p:nvSpPr>
        <p:spPr/>
        <p:txBody>
          <a:bodyPr/>
          <a:lstStyle/>
          <a:p>
            <a:fld id="{C19CBF55-B823-49EC-977E-C8319C0375D1}" type="datetimeFigureOut">
              <a:rPr lang="en-IN" smtClean="0"/>
              <a:t>03-06-2026</a:t>
            </a:fld>
            <a:endParaRPr lang="en-IN"/>
          </a:p>
        </p:txBody>
      </p:sp>
      <p:sp>
        <p:nvSpPr>
          <p:cNvPr id="6" name="Footer Placeholder 5">
            <a:extLst>
              <a:ext uri="{FF2B5EF4-FFF2-40B4-BE49-F238E27FC236}">
                <a16:creationId xmlns:a16="http://schemas.microsoft.com/office/drawing/2014/main" id="{644DD16B-F138-2D3D-EFB3-B497BE7521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A75F58-D61C-D15E-6E1A-5A19D60D86B6}"/>
              </a:ext>
            </a:extLst>
          </p:cNvPr>
          <p:cNvSpPr>
            <a:spLocks noGrp="1"/>
          </p:cNvSpPr>
          <p:nvPr>
            <p:ph type="sldNum" sz="quarter" idx="12"/>
          </p:nvPr>
        </p:nvSpPr>
        <p:spPr/>
        <p:txBody>
          <a:bodyPr/>
          <a:lstStyle/>
          <a:p>
            <a:fld id="{3DF73CFD-C37D-4482-BD12-3A90F2A72A01}" type="slidenum">
              <a:rPr lang="en-IN" smtClean="0"/>
              <a:t>‹#›</a:t>
            </a:fld>
            <a:endParaRPr lang="en-IN"/>
          </a:p>
        </p:txBody>
      </p:sp>
    </p:spTree>
    <p:extLst>
      <p:ext uri="{BB962C8B-B14F-4D97-AF65-F5344CB8AC3E}">
        <p14:creationId xmlns:p14="http://schemas.microsoft.com/office/powerpoint/2010/main" val="1301910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BF10C-FAC6-A88E-35BD-0699FABAFA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3DAB160-6891-9051-5D49-C3AE899274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21FB54-73CF-94E1-80B3-3C3134B0DF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517054-66BC-503B-C490-76FCA8DE5E73}"/>
              </a:ext>
            </a:extLst>
          </p:cNvPr>
          <p:cNvSpPr>
            <a:spLocks noGrp="1"/>
          </p:cNvSpPr>
          <p:nvPr>
            <p:ph type="dt" sz="half" idx="10"/>
          </p:nvPr>
        </p:nvSpPr>
        <p:spPr/>
        <p:txBody>
          <a:bodyPr/>
          <a:lstStyle/>
          <a:p>
            <a:fld id="{C19CBF55-B823-49EC-977E-C8319C0375D1}" type="datetimeFigureOut">
              <a:rPr lang="en-IN" smtClean="0"/>
              <a:t>03-06-2026</a:t>
            </a:fld>
            <a:endParaRPr lang="en-IN"/>
          </a:p>
        </p:txBody>
      </p:sp>
      <p:sp>
        <p:nvSpPr>
          <p:cNvPr id="6" name="Footer Placeholder 5">
            <a:extLst>
              <a:ext uri="{FF2B5EF4-FFF2-40B4-BE49-F238E27FC236}">
                <a16:creationId xmlns:a16="http://schemas.microsoft.com/office/drawing/2014/main" id="{87B831E3-389C-06F9-4A49-9AE39A10F0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A563E2-4541-07B9-ADE2-26F66434ECFC}"/>
              </a:ext>
            </a:extLst>
          </p:cNvPr>
          <p:cNvSpPr>
            <a:spLocks noGrp="1"/>
          </p:cNvSpPr>
          <p:nvPr>
            <p:ph type="sldNum" sz="quarter" idx="12"/>
          </p:nvPr>
        </p:nvSpPr>
        <p:spPr/>
        <p:txBody>
          <a:bodyPr/>
          <a:lstStyle/>
          <a:p>
            <a:fld id="{3DF73CFD-C37D-4482-BD12-3A90F2A72A01}" type="slidenum">
              <a:rPr lang="en-IN" smtClean="0"/>
              <a:t>‹#›</a:t>
            </a:fld>
            <a:endParaRPr lang="en-IN"/>
          </a:p>
        </p:txBody>
      </p:sp>
    </p:spTree>
    <p:extLst>
      <p:ext uri="{BB962C8B-B14F-4D97-AF65-F5344CB8AC3E}">
        <p14:creationId xmlns:p14="http://schemas.microsoft.com/office/powerpoint/2010/main" val="4277150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945B1-533A-776B-D8F8-71A0B172DA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C0F91E-06D8-9686-D12E-B3E5F8FF94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9E4E67-343C-3D15-2759-DACE79E3A245}"/>
              </a:ext>
            </a:extLst>
          </p:cNvPr>
          <p:cNvSpPr>
            <a:spLocks noGrp="1"/>
          </p:cNvSpPr>
          <p:nvPr>
            <p:ph type="dt" sz="half" idx="10"/>
          </p:nvPr>
        </p:nvSpPr>
        <p:spPr/>
        <p:txBody>
          <a:bodyPr/>
          <a:lstStyle/>
          <a:p>
            <a:fld id="{C19CBF55-B823-49EC-977E-C8319C0375D1}" type="datetimeFigureOut">
              <a:rPr lang="en-IN" smtClean="0"/>
              <a:t>03-06-2026</a:t>
            </a:fld>
            <a:endParaRPr lang="en-IN"/>
          </a:p>
        </p:txBody>
      </p:sp>
      <p:sp>
        <p:nvSpPr>
          <p:cNvPr id="5" name="Footer Placeholder 4">
            <a:extLst>
              <a:ext uri="{FF2B5EF4-FFF2-40B4-BE49-F238E27FC236}">
                <a16:creationId xmlns:a16="http://schemas.microsoft.com/office/drawing/2014/main" id="{CCCAAC7A-FE4F-0102-639A-BB7425D2C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A71EC1-7906-5E29-7EAE-AF294253D740}"/>
              </a:ext>
            </a:extLst>
          </p:cNvPr>
          <p:cNvSpPr>
            <a:spLocks noGrp="1"/>
          </p:cNvSpPr>
          <p:nvPr>
            <p:ph type="sldNum" sz="quarter" idx="12"/>
          </p:nvPr>
        </p:nvSpPr>
        <p:spPr/>
        <p:txBody>
          <a:bodyPr/>
          <a:lstStyle/>
          <a:p>
            <a:fld id="{3DF73CFD-C37D-4482-BD12-3A90F2A72A01}" type="slidenum">
              <a:rPr lang="en-IN" smtClean="0"/>
              <a:t>‹#›</a:t>
            </a:fld>
            <a:endParaRPr lang="en-IN"/>
          </a:p>
        </p:txBody>
      </p:sp>
    </p:spTree>
    <p:extLst>
      <p:ext uri="{BB962C8B-B14F-4D97-AF65-F5344CB8AC3E}">
        <p14:creationId xmlns:p14="http://schemas.microsoft.com/office/powerpoint/2010/main" val="2059434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CEFCB7-C7BE-BF79-6B94-FD0B8043AE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D7ED0E-D1F1-44B5-1B33-5A60DC480C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752738-3F88-5CFE-8CF8-0DDF04D86907}"/>
              </a:ext>
            </a:extLst>
          </p:cNvPr>
          <p:cNvSpPr>
            <a:spLocks noGrp="1"/>
          </p:cNvSpPr>
          <p:nvPr>
            <p:ph type="dt" sz="half" idx="10"/>
          </p:nvPr>
        </p:nvSpPr>
        <p:spPr/>
        <p:txBody>
          <a:bodyPr/>
          <a:lstStyle/>
          <a:p>
            <a:fld id="{C19CBF55-B823-49EC-977E-C8319C0375D1}" type="datetimeFigureOut">
              <a:rPr lang="en-IN" smtClean="0"/>
              <a:t>03-06-2026</a:t>
            </a:fld>
            <a:endParaRPr lang="en-IN"/>
          </a:p>
        </p:txBody>
      </p:sp>
      <p:sp>
        <p:nvSpPr>
          <p:cNvPr id="5" name="Footer Placeholder 4">
            <a:extLst>
              <a:ext uri="{FF2B5EF4-FFF2-40B4-BE49-F238E27FC236}">
                <a16:creationId xmlns:a16="http://schemas.microsoft.com/office/drawing/2014/main" id="{3207D8A7-56B0-7CC5-939D-B5E69EA0C1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31BE33-CAFA-6821-6972-C265BB869174}"/>
              </a:ext>
            </a:extLst>
          </p:cNvPr>
          <p:cNvSpPr>
            <a:spLocks noGrp="1"/>
          </p:cNvSpPr>
          <p:nvPr>
            <p:ph type="sldNum" sz="quarter" idx="12"/>
          </p:nvPr>
        </p:nvSpPr>
        <p:spPr/>
        <p:txBody>
          <a:bodyPr/>
          <a:lstStyle/>
          <a:p>
            <a:fld id="{3DF73CFD-C37D-4482-BD12-3A90F2A72A01}" type="slidenum">
              <a:rPr lang="en-IN" smtClean="0"/>
              <a:t>‹#›</a:t>
            </a:fld>
            <a:endParaRPr lang="en-IN"/>
          </a:p>
        </p:txBody>
      </p:sp>
    </p:spTree>
    <p:extLst>
      <p:ext uri="{BB962C8B-B14F-4D97-AF65-F5344CB8AC3E}">
        <p14:creationId xmlns:p14="http://schemas.microsoft.com/office/powerpoint/2010/main" val="575418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574DB6-F4AA-D9CB-B64B-962441BB41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51B0B2-772F-E203-F67A-4A249C68D1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806E0D-ADF7-BFB4-5C30-2473EF7D34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9CBF55-B823-49EC-977E-C8319C0375D1}" type="datetimeFigureOut">
              <a:rPr lang="en-IN" smtClean="0"/>
              <a:t>03-06-2026</a:t>
            </a:fld>
            <a:endParaRPr lang="en-IN"/>
          </a:p>
        </p:txBody>
      </p:sp>
      <p:sp>
        <p:nvSpPr>
          <p:cNvPr id="5" name="Footer Placeholder 4">
            <a:extLst>
              <a:ext uri="{FF2B5EF4-FFF2-40B4-BE49-F238E27FC236}">
                <a16:creationId xmlns:a16="http://schemas.microsoft.com/office/drawing/2014/main" id="{ACB180E3-9246-2B4A-36CA-73C276DB41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4CE8284-EAF7-C62E-D988-2652B8AAB2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F73CFD-C37D-4482-BD12-3A90F2A72A01}" type="slidenum">
              <a:rPr lang="en-IN" smtClean="0"/>
              <a:t>‹#›</a:t>
            </a:fld>
            <a:endParaRPr lang="en-IN"/>
          </a:p>
        </p:txBody>
      </p:sp>
    </p:spTree>
    <p:extLst>
      <p:ext uri="{BB962C8B-B14F-4D97-AF65-F5344CB8AC3E}">
        <p14:creationId xmlns:p14="http://schemas.microsoft.com/office/powerpoint/2010/main" val="3941484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F94B0F-F3F9-DC7A-7457-05933BC3BDC6}"/>
              </a:ext>
            </a:extLst>
          </p:cNvPr>
          <p:cNvSpPr>
            <a:spLocks noGrp="1"/>
          </p:cNvSpPr>
          <p:nvPr>
            <p:ph type="ctrTitle"/>
          </p:nvPr>
        </p:nvSpPr>
        <p:spPr>
          <a:xfrm>
            <a:off x="4162567" y="818984"/>
            <a:ext cx="6714699" cy="3178689"/>
          </a:xfrm>
        </p:spPr>
        <p:txBody>
          <a:bodyPr>
            <a:normAutofit/>
          </a:bodyPr>
          <a:lstStyle/>
          <a:p>
            <a:pPr algn="l"/>
            <a:r>
              <a:rPr lang="en-US" sz="4800">
                <a:solidFill>
                  <a:srgbClr val="FFFFFF"/>
                </a:solidFill>
              </a:rPr>
              <a:t>Jmeter Reverse KT</a:t>
            </a:r>
            <a:endParaRPr lang="en-IN" sz="4800">
              <a:solidFill>
                <a:srgbClr val="FFFFFF"/>
              </a:solidFill>
            </a:endParaRP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B649ADA6-D8C9-635C-92C8-90CD2135B479}"/>
              </a:ext>
            </a:extLst>
          </p:cNvPr>
          <p:cNvSpPr>
            <a:spLocks noGrp="1"/>
          </p:cNvSpPr>
          <p:nvPr>
            <p:ph type="subTitle" idx="1"/>
          </p:nvPr>
        </p:nvSpPr>
        <p:spPr>
          <a:xfrm>
            <a:off x="1524000" y="7043328"/>
            <a:ext cx="9144000" cy="1655762"/>
          </a:xfrm>
        </p:spPr>
        <p:txBody>
          <a:bodyPr/>
          <a:lstStyle/>
          <a:p>
            <a:endParaRPr lang="en-IN" dirty="0"/>
          </a:p>
        </p:txBody>
      </p:sp>
    </p:spTree>
    <p:extLst>
      <p:ext uri="{BB962C8B-B14F-4D97-AF65-F5344CB8AC3E}">
        <p14:creationId xmlns:p14="http://schemas.microsoft.com/office/powerpoint/2010/main" val="1223114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A92F29-E82E-8561-8A86-5CABE1EE5FDF}"/>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Phases of Performance Testing</a:t>
            </a:r>
            <a:endParaRPr lang="en-IN" sz="4000" dirty="0">
              <a:solidFill>
                <a:srgbClr val="FFFFFF"/>
              </a:solidFill>
            </a:endParaRPr>
          </a:p>
        </p:txBody>
      </p:sp>
      <p:sp>
        <p:nvSpPr>
          <p:cNvPr id="3" name="Content Placeholder 2">
            <a:extLst>
              <a:ext uri="{FF2B5EF4-FFF2-40B4-BE49-F238E27FC236}">
                <a16:creationId xmlns:a16="http://schemas.microsoft.com/office/drawing/2014/main" id="{CCAA7D29-F09E-7362-A7EA-7168BF3EC80E}"/>
              </a:ext>
            </a:extLst>
          </p:cNvPr>
          <p:cNvSpPr>
            <a:spLocks noGrp="1"/>
          </p:cNvSpPr>
          <p:nvPr>
            <p:ph idx="1"/>
          </p:nvPr>
        </p:nvSpPr>
        <p:spPr>
          <a:xfrm>
            <a:off x="459350" y="2005781"/>
            <a:ext cx="11349192" cy="4414684"/>
          </a:xfrm>
        </p:spPr>
        <p:txBody>
          <a:bodyPr anchor="ctr">
            <a:noAutofit/>
          </a:bodyPr>
          <a:lstStyle/>
          <a:p>
            <a:pPr fontAlgn="base"/>
            <a:r>
              <a:rPr lang="en-US" sz="2000" b="1" dirty="0"/>
              <a:t>Planning Phase</a:t>
            </a:r>
            <a:r>
              <a:rPr lang="en-US" sz="2000" dirty="0"/>
              <a:t>​</a:t>
            </a:r>
          </a:p>
          <a:p>
            <a:pPr marL="0" indent="0" fontAlgn="base">
              <a:buNone/>
            </a:pPr>
            <a:r>
              <a:rPr lang="en-US" sz="2000" dirty="0"/>
              <a:t>      Defines performance objectives like response time, throughput, scalability, and selects tools and environment.​</a:t>
            </a:r>
          </a:p>
          <a:p>
            <a:pPr fontAlgn="base"/>
            <a:r>
              <a:rPr lang="en-US" sz="2000" b="1" dirty="0"/>
              <a:t>Test Design and Scripting</a:t>
            </a:r>
            <a:r>
              <a:rPr lang="en-US" sz="2000" dirty="0"/>
              <a:t>​</a:t>
            </a:r>
          </a:p>
          <a:p>
            <a:pPr marL="0" indent="0" fontAlgn="base">
              <a:buNone/>
            </a:pPr>
            <a:r>
              <a:rPr lang="en-US" sz="2000" dirty="0"/>
              <a:t>     Models workloads and creates dynamic automated test scripts using correlation and parameterization.​</a:t>
            </a:r>
          </a:p>
          <a:p>
            <a:pPr fontAlgn="base"/>
            <a:r>
              <a:rPr lang="en-US" sz="2000" b="1" dirty="0"/>
              <a:t>Execution and Monitoring</a:t>
            </a:r>
            <a:r>
              <a:rPr lang="en-US" sz="2000" dirty="0"/>
              <a:t>​</a:t>
            </a:r>
          </a:p>
          <a:p>
            <a:pPr marL="0" indent="0" fontAlgn="base">
              <a:buNone/>
            </a:pPr>
            <a:r>
              <a:rPr lang="en-US" sz="2000" dirty="0"/>
              <a:t>     Runs tests with continuous monitoring of servers, databases, and network resources for system behavior.​</a:t>
            </a:r>
          </a:p>
          <a:p>
            <a:pPr fontAlgn="base"/>
            <a:r>
              <a:rPr lang="en-US" sz="2000" b="1" dirty="0"/>
              <a:t>Analysis, Reporting and Tuning</a:t>
            </a:r>
            <a:r>
              <a:rPr lang="en-US" sz="2000" dirty="0"/>
              <a:t>​</a:t>
            </a:r>
          </a:p>
          <a:p>
            <a:pPr marL="0" indent="0" fontAlgn="base">
              <a:buNone/>
            </a:pPr>
            <a:r>
              <a:rPr lang="en-US" sz="2000" dirty="0"/>
              <a:t>     Analyzes results to identify bottlenecks, reports findings, and tunes system for performance improvement.</a:t>
            </a:r>
          </a:p>
        </p:txBody>
      </p:sp>
    </p:spTree>
    <p:extLst>
      <p:ext uri="{BB962C8B-B14F-4D97-AF65-F5344CB8AC3E}">
        <p14:creationId xmlns:p14="http://schemas.microsoft.com/office/powerpoint/2010/main" val="4205998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D24271-200A-2539-C6B9-6B4E4CFFA8EB}"/>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Types of Performance Testing</a:t>
            </a:r>
            <a:endParaRPr lang="en-IN" sz="4000" dirty="0">
              <a:solidFill>
                <a:srgbClr val="FFFFFF"/>
              </a:solidFill>
            </a:endParaRPr>
          </a:p>
        </p:txBody>
      </p:sp>
      <p:sp>
        <p:nvSpPr>
          <p:cNvPr id="3" name="Content Placeholder 2">
            <a:extLst>
              <a:ext uri="{FF2B5EF4-FFF2-40B4-BE49-F238E27FC236}">
                <a16:creationId xmlns:a16="http://schemas.microsoft.com/office/drawing/2014/main" id="{7453971F-F209-384F-BC80-F94EC358F3F8}"/>
              </a:ext>
            </a:extLst>
          </p:cNvPr>
          <p:cNvSpPr>
            <a:spLocks noGrp="1"/>
          </p:cNvSpPr>
          <p:nvPr>
            <p:ph idx="1"/>
          </p:nvPr>
        </p:nvSpPr>
        <p:spPr>
          <a:xfrm>
            <a:off x="459350" y="1710813"/>
            <a:ext cx="11329527" cy="4852649"/>
          </a:xfrm>
        </p:spPr>
        <p:txBody>
          <a:bodyPr anchor="ctr">
            <a:normAutofit/>
          </a:bodyPr>
          <a:lstStyle/>
          <a:p>
            <a:r>
              <a:rPr lang="en-US" sz="2000" b="1" dirty="0"/>
              <a:t>Load Testing </a:t>
            </a:r>
            <a:r>
              <a:rPr lang="en-US" sz="2000" dirty="0"/>
              <a:t>- Verify expected workload handling</a:t>
            </a:r>
          </a:p>
          <a:p>
            <a:pPr marL="0" indent="0">
              <a:buNone/>
            </a:pPr>
            <a:r>
              <a:rPr lang="en-US" sz="2000" dirty="0"/>
              <a:t>    Ex: 5000 users shopping online.</a:t>
            </a:r>
          </a:p>
          <a:p>
            <a:r>
              <a:rPr lang="en-US" sz="2000" b="1" dirty="0"/>
              <a:t>Stress Testing </a:t>
            </a:r>
            <a:r>
              <a:rPr lang="en-US" sz="2000" dirty="0"/>
              <a:t>– Testing the maximum load of user can be handled until breakdown point.</a:t>
            </a:r>
          </a:p>
          <a:p>
            <a:pPr marL="0" indent="0">
              <a:buNone/>
            </a:pPr>
            <a:r>
              <a:rPr lang="en-US" sz="2000" dirty="0"/>
              <a:t>    Ex: Push users beyond capacity.</a:t>
            </a:r>
          </a:p>
          <a:p>
            <a:r>
              <a:rPr lang="en-US" sz="2000" b="1" dirty="0"/>
              <a:t>Spike Testing </a:t>
            </a:r>
            <a:r>
              <a:rPr lang="en-US" sz="2000" dirty="0"/>
              <a:t>– Testing by suddenly increasing the number of concurrent users logged on, to determine the server behavior.</a:t>
            </a:r>
          </a:p>
          <a:p>
            <a:pPr marL="0" indent="0">
              <a:buNone/>
            </a:pPr>
            <a:r>
              <a:rPr lang="en-US" sz="2000" dirty="0"/>
              <a:t>     Ex: Flash Sale launch.</a:t>
            </a:r>
          </a:p>
          <a:p>
            <a:r>
              <a:rPr lang="en-US" sz="2000" b="1" dirty="0"/>
              <a:t>Soak Testing </a:t>
            </a:r>
            <a:r>
              <a:rPr lang="en-US" sz="2000" dirty="0"/>
              <a:t>– Making sure that the software can handle the expected load over a long period of time.</a:t>
            </a:r>
          </a:p>
          <a:p>
            <a:pPr marL="0" indent="0">
              <a:buNone/>
            </a:pPr>
            <a:r>
              <a:rPr lang="en-US" sz="2000" dirty="0"/>
              <a:t>     Ex: banking app running for days.</a:t>
            </a:r>
          </a:p>
          <a:p>
            <a:r>
              <a:rPr lang="en-US" sz="2000" b="1" dirty="0"/>
              <a:t>Volume Testing </a:t>
            </a:r>
            <a:r>
              <a:rPr lang="en-US" sz="2000" dirty="0"/>
              <a:t>– Handling large amount of data.</a:t>
            </a:r>
          </a:p>
          <a:p>
            <a:pPr marL="0" indent="0">
              <a:buNone/>
            </a:pPr>
            <a:r>
              <a:rPr lang="en-US" sz="2000" dirty="0"/>
              <a:t>    Ex: 100 million database records.</a:t>
            </a:r>
          </a:p>
        </p:txBody>
      </p:sp>
    </p:spTree>
    <p:extLst>
      <p:ext uri="{BB962C8B-B14F-4D97-AF65-F5344CB8AC3E}">
        <p14:creationId xmlns:p14="http://schemas.microsoft.com/office/powerpoint/2010/main" val="1119636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F5E59F-791E-ABD5-C967-8F252778838F}"/>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Client-side VS Server-side</a:t>
            </a:r>
            <a:endParaRPr lang="en-IN" sz="4000" dirty="0">
              <a:solidFill>
                <a:srgbClr val="FFFFFF"/>
              </a:solidFill>
            </a:endParaRPr>
          </a:p>
        </p:txBody>
      </p:sp>
      <p:sp>
        <p:nvSpPr>
          <p:cNvPr id="3" name="Content Placeholder 2">
            <a:extLst>
              <a:ext uri="{FF2B5EF4-FFF2-40B4-BE49-F238E27FC236}">
                <a16:creationId xmlns:a16="http://schemas.microsoft.com/office/drawing/2014/main" id="{5D31BDAE-A11A-424C-DDA9-4E3D7A204DA7}"/>
              </a:ext>
            </a:extLst>
          </p:cNvPr>
          <p:cNvSpPr>
            <a:spLocks noGrp="1"/>
          </p:cNvSpPr>
          <p:nvPr>
            <p:ph idx="1"/>
          </p:nvPr>
        </p:nvSpPr>
        <p:spPr>
          <a:xfrm>
            <a:off x="570271" y="1885279"/>
            <a:ext cx="11110452" cy="4495856"/>
          </a:xfrm>
        </p:spPr>
        <p:txBody>
          <a:bodyPr anchor="ctr">
            <a:normAutofit/>
          </a:bodyPr>
          <a:lstStyle/>
          <a:p>
            <a:pPr marL="0" indent="0">
              <a:buNone/>
            </a:pPr>
            <a:r>
              <a:rPr lang="en-US" sz="2000" b="1" dirty="0"/>
              <a:t>Client-side Testing:</a:t>
            </a:r>
          </a:p>
          <a:p>
            <a:r>
              <a:rPr lang="en-IN" sz="2000" dirty="0"/>
              <a:t>Focuses on user experience, UI performance, page load time and responsiveness.</a:t>
            </a:r>
          </a:p>
          <a:p>
            <a:r>
              <a:rPr lang="en-IN" sz="2000" dirty="0"/>
              <a:t>Tools used are Lighthouse, Chrome DevTools.</a:t>
            </a:r>
          </a:p>
          <a:p>
            <a:r>
              <a:rPr lang="en-IN" sz="2000" dirty="0"/>
              <a:t>Main goal is to get fast, smooth interface across devices and networks.</a:t>
            </a:r>
          </a:p>
          <a:p>
            <a:endParaRPr lang="en-IN" sz="2000" dirty="0"/>
          </a:p>
          <a:p>
            <a:pPr marL="0" indent="0">
              <a:buNone/>
            </a:pPr>
            <a:r>
              <a:rPr lang="en-IN" sz="2000" b="1" dirty="0"/>
              <a:t>Server-side Testing:</a:t>
            </a:r>
          </a:p>
          <a:p>
            <a:r>
              <a:rPr lang="en-IN" sz="2000" dirty="0"/>
              <a:t>Focuses on backend performance, API response time, Throughput and system scalability.</a:t>
            </a:r>
          </a:p>
          <a:p>
            <a:r>
              <a:rPr lang="en-IN" sz="2000" dirty="0"/>
              <a:t>Tools used are </a:t>
            </a:r>
            <a:r>
              <a:rPr lang="en-IN" sz="2000" dirty="0" err="1"/>
              <a:t>Jmeter</a:t>
            </a:r>
            <a:r>
              <a:rPr lang="en-IN" sz="2000" dirty="0"/>
              <a:t>, LoadRunner</a:t>
            </a:r>
          </a:p>
          <a:p>
            <a:r>
              <a:rPr lang="en-IN" sz="2000" dirty="0"/>
              <a:t>Main goal is stable system under high traffic.</a:t>
            </a:r>
          </a:p>
        </p:txBody>
      </p:sp>
    </p:spTree>
    <p:extLst>
      <p:ext uri="{BB962C8B-B14F-4D97-AF65-F5344CB8AC3E}">
        <p14:creationId xmlns:p14="http://schemas.microsoft.com/office/powerpoint/2010/main" val="1879356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2786AB-FAA4-08FF-1C3C-DA82403E8847}"/>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Key Components of </a:t>
            </a:r>
            <a:r>
              <a:rPr lang="en-US" sz="4000" dirty="0" err="1">
                <a:solidFill>
                  <a:srgbClr val="FFFFFF"/>
                </a:solidFill>
              </a:rPr>
              <a:t>Jmeter</a:t>
            </a:r>
            <a:endParaRPr lang="en-IN" sz="4000" dirty="0">
              <a:solidFill>
                <a:srgbClr val="FFFFFF"/>
              </a:solidFill>
            </a:endParaRPr>
          </a:p>
        </p:txBody>
      </p:sp>
      <p:sp>
        <p:nvSpPr>
          <p:cNvPr id="3" name="Content Placeholder 2">
            <a:extLst>
              <a:ext uri="{FF2B5EF4-FFF2-40B4-BE49-F238E27FC236}">
                <a16:creationId xmlns:a16="http://schemas.microsoft.com/office/drawing/2014/main" id="{95AD9721-52D2-A40C-6B5D-7F72BA7810BE}"/>
              </a:ext>
            </a:extLst>
          </p:cNvPr>
          <p:cNvSpPr>
            <a:spLocks noGrp="1"/>
          </p:cNvSpPr>
          <p:nvPr>
            <p:ph idx="1"/>
          </p:nvPr>
        </p:nvSpPr>
        <p:spPr>
          <a:xfrm>
            <a:off x="599767" y="1718268"/>
            <a:ext cx="11484077" cy="5139732"/>
          </a:xfrm>
        </p:spPr>
        <p:txBody>
          <a:bodyPr anchor="ctr">
            <a:noAutofit/>
          </a:bodyPr>
          <a:lstStyle/>
          <a:p>
            <a:pPr marL="0" indent="0">
              <a:buNone/>
            </a:pPr>
            <a:r>
              <a:rPr lang="en-US" sz="2000" b="1" dirty="0"/>
              <a:t>1. Test Plan:</a:t>
            </a:r>
          </a:p>
          <a:p>
            <a:pPr marL="0" indent="0">
              <a:buNone/>
            </a:pPr>
            <a:r>
              <a:rPr lang="en-US" sz="2000" dirty="0"/>
              <a:t>     JMeter works around a central element called the Test Plan, which acts as the foundation for any performance test. It defines the overall structure, scope, and flow of the test. </a:t>
            </a:r>
          </a:p>
          <a:p>
            <a:pPr marL="0" indent="0">
              <a:buNone/>
            </a:pPr>
            <a:endParaRPr lang="en-US" sz="2000" dirty="0"/>
          </a:p>
          <a:p>
            <a:pPr marL="0" indent="0">
              <a:buNone/>
            </a:pPr>
            <a:r>
              <a:rPr lang="en-US" sz="2000" b="1" dirty="0"/>
              <a:t>2. Thread Group:</a:t>
            </a:r>
          </a:p>
          <a:p>
            <a:pPr marL="0" indent="0">
              <a:buNone/>
            </a:pPr>
            <a:r>
              <a:rPr lang="en-US" sz="2000" dirty="0"/>
              <a:t>    A Thread Group is used to simulate real users accessing the system. It defines how many users will run the test, how quickly they start (ramp-up time), and how many times each user executes the test (loop count). </a:t>
            </a:r>
          </a:p>
          <a:p>
            <a:pPr marL="0" indent="0">
              <a:buNone/>
            </a:pPr>
            <a:endParaRPr lang="en-US" sz="2000" dirty="0"/>
          </a:p>
          <a:p>
            <a:pPr marL="0" indent="0">
              <a:buNone/>
            </a:pPr>
            <a:r>
              <a:rPr lang="en-US" sz="2000" b="1" dirty="0"/>
              <a:t>3. Listeners:</a:t>
            </a:r>
          </a:p>
          <a:p>
            <a:pPr marL="0" indent="0">
              <a:buNone/>
            </a:pPr>
            <a:r>
              <a:rPr lang="en-US" sz="2000" dirty="0"/>
              <a:t>   Listeners are used to collect, display, and analyze test results. They provide valuable insights such as   response time, throughput, and error rates using tables, graphs, and reports. </a:t>
            </a:r>
          </a:p>
        </p:txBody>
      </p:sp>
    </p:spTree>
    <p:extLst>
      <p:ext uri="{BB962C8B-B14F-4D97-AF65-F5344CB8AC3E}">
        <p14:creationId xmlns:p14="http://schemas.microsoft.com/office/powerpoint/2010/main" val="4069809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66061B-F5B8-E9C9-C46C-1675672D7FF8}"/>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Key Components of </a:t>
            </a:r>
            <a:r>
              <a:rPr lang="en-US" sz="4000" dirty="0" err="1">
                <a:solidFill>
                  <a:srgbClr val="FFFFFF"/>
                </a:solidFill>
              </a:rPr>
              <a:t>Jmeter</a:t>
            </a:r>
            <a:endParaRPr lang="en-IN" sz="4000" dirty="0">
              <a:solidFill>
                <a:srgbClr val="FFFFFF"/>
              </a:solidFill>
            </a:endParaRPr>
          </a:p>
        </p:txBody>
      </p:sp>
      <p:sp>
        <p:nvSpPr>
          <p:cNvPr id="3" name="Content Placeholder 2">
            <a:extLst>
              <a:ext uri="{FF2B5EF4-FFF2-40B4-BE49-F238E27FC236}">
                <a16:creationId xmlns:a16="http://schemas.microsoft.com/office/drawing/2014/main" id="{61B100BD-50B6-2538-C29B-85E4EBBA57DC}"/>
              </a:ext>
            </a:extLst>
          </p:cNvPr>
          <p:cNvSpPr>
            <a:spLocks noGrp="1"/>
          </p:cNvSpPr>
          <p:nvPr>
            <p:ph idx="1"/>
          </p:nvPr>
        </p:nvSpPr>
        <p:spPr>
          <a:xfrm>
            <a:off x="639098" y="2298533"/>
            <a:ext cx="10476198" cy="3683358"/>
          </a:xfrm>
        </p:spPr>
        <p:txBody>
          <a:bodyPr anchor="ctr">
            <a:normAutofit/>
          </a:bodyPr>
          <a:lstStyle/>
          <a:p>
            <a:pPr marL="0" indent="0">
              <a:buNone/>
            </a:pPr>
            <a:r>
              <a:rPr lang="en-US" sz="2000" b="1" dirty="0"/>
              <a:t>4. Assertions:</a:t>
            </a:r>
          </a:p>
          <a:p>
            <a:pPr marL="0" indent="0">
              <a:buNone/>
            </a:pPr>
            <a:r>
              <a:rPr lang="en-US" sz="2000" dirty="0"/>
              <a:t>    Assertions are used to validate the responses received from the server. They check whether the output matches expected results, such as verifying response codes or ensuring specific text is present.</a:t>
            </a:r>
          </a:p>
          <a:p>
            <a:pPr marL="0" indent="0">
              <a:buNone/>
            </a:pPr>
            <a:endParaRPr lang="en-US" sz="2000" dirty="0"/>
          </a:p>
          <a:p>
            <a:pPr marL="0" indent="0">
              <a:buNone/>
            </a:pPr>
            <a:r>
              <a:rPr lang="en-US" sz="2000" b="1" dirty="0"/>
              <a:t>5. Timers:</a:t>
            </a:r>
          </a:p>
          <a:p>
            <a:pPr marL="0" indent="0">
              <a:buNone/>
            </a:pPr>
            <a:r>
              <a:rPr lang="en-US" sz="2000" dirty="0"/>
              <a:t>    Timers introduce delays between requests to simulate realistic user behavior. Without timers, JMeter would send requests continuously at maximum speed         </a:t>
            </a:r>
            <a:endParaRPr lang="en-IN" sz="2000" dirty="0"/>
          </a:p>
          <a:p>
            <a:pPr marL="0" indent="0">
              <a:buNone/>
            </a:pPr>
            <a:endParaRPr lang="en-IN" sz="2000" dirty="0"/>
          </a:p>
          <a:p>
            <a:pPr marL="0" indent="0">
              <a:buNone/>
            </a:pPr>
            <a:endParaRPr lang="en-IN" sz="2000" dirty="0"/>
          </a:p>
        </p:txBody>
      </p:sp>
    </p:spTree>
    <p:extLst>
      <p:ext uri="{BB962C8B-B14F-4D97-AF65-F5344CB8AC3E}">
        <p14:creationId xmlns:p14="http://schemas.microsoft.com/office/powerpoint/2010/main" val="2273242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3CEAFF-9CF2-7908-737B-58F05F8ED857}"/>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Scripting </a:t>
            </a:r>
            <a:r>
              <a:rPr lang="en-US" sz="4000" dirty="0" err="1">
                <a:solidFill>
                  <a:srgbClr val="FFFFFF"/>
                </a:solidFill>
              </a:rPr>
              <a:t>CheckList</a:t>
            </a:r>
            <a:endParaRPr lang="en-IN" sz="4000" dirty="0">
              <a:solidFill>
                <a:srgbClr val="FFFFFF"/>
              </a:solidFill>
            </a:endParaRPr>
          </a:p>
        </p:txBody>
      </p:sp>
      <p:sp>
        <p:nvSpPr>
          <p:cNvPr id="3" name="Content Placeholder 2">
            <a:extLst>
              <a:ext uri="{FF2B5EF4-FFF2-40B4-BE49-F238E27FC236}">
                <a16:creationId xmlns:a16="http://schemas.microsoft.com/office/drawing/2014/main" id="{9FA0C1EE-AFEE-8F57-D268-816858ABA301}"/>
              </a:ext>
            </a:extLst>
          </p:cNvPr>
          <p:cNvSpPr>
            <a:spLocks noGrp="1"/>
          </p:cNvSpPr>
          <p:nvPr>
            <p:ph idx="1"/>
          </p:nvPr>
        </p:nvSpPr>
        <p:spPr>
          <a:xfrm>
            <a:off x="459350" y="1885279"/>
            <a:ext cx="10636280" cy="4251413"/>
          </a:xfrm>
        </p:spPr>
        <p:txBody>
          <a:bodyPr anchor="ctr">
            <a:normAutofit/>
          </a:bodyPr>
          <a:lstStyle/>
          <a:p>
            <a:r>
              <a:rPr lang="en-US" sz="2000" b="1" dirty="0"/>
              <a:t>Recording script</a:t>
            </a:r>
          </a:p>
          <a:p>
            <a:pPr marL="0" indent="0">
              <a:buNone/>
            </a:pPr>
            <a:r>
              <a:rPr lang="en-US" sz="2000" dirty="0"/>
              <a:t>    Recording is the first step in scripting, where real user actions are captured using tools like JMeter’s HTTP(S) Test Script Recorder. This process records all requests sent from the client to the server while performing actions in the application.</a:t>
            </a:r>
          </a:p>
          <a:p>
            <a:r>
              <a:rPr lang="en-IN" sz="2000" b="1" dirty="0"/>
              <a:t>Correlation</a:t>
            </a:r>
          </a:p>
          <a:p>
            <a:pPr marL="0" indent="0">
              <a:buNone/>
            </a:pPr>
            <a:r>
              <a:rPr lang="en-IN" sz="2000" dirty="0"/>
              <a:t>    </a:t>
            </a:r>
            <a:r>
              <a:rPr lang="en-US" sz="2000" dirty="0"/>
              <a:t>Correlation is used to handle dynamic values such as session IDs, tokens, or cookies that change every time the application runs. </a:t>
            </a:r>
          </a:p>
          <a:p>
            <a:r>
              <a:rPr lang="en-US" sz="2000" b="1" dirty="0"/>
              <a:t>Parameterization</a:t>
            </a:r>
          </a:p>
          <a:p>
            <a:pPr marL="0" indent="0">
              <a:buNone/>
            </a:pPr>
            <a:r>
              <a:rPr lang="en-US" sz="2000" dirty="0"/>
              <a:t>    Parameterization involves replacing hardcoded values in the script with dynamic or external data sources such as CSV files. This allows multiple virtual users to use different inputs, such as unique usernames or search terms, making the test more realistic and preventing server-side caching from affecting results.</a:t>
            </a:r>
          </a:p>
        </p:txBody>
      </p:sp>
    </p:spTree>
    <p:extLst>
      <p:ext uri="{BB962C8B-B14F-4D97-AF65-F5344CB8AC3E}">
        <p14:creationId xmlns:p14="http://schemas.microsoft.com/office/powerpoint/2010/main" val="882062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E61F0A-C702-18AD-22E0-216442BBC71D}"/>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Scripting </a:t>
            </a:r>
            <a:r>
              <a:rPr lang="en-US" sz="4000" dirty="0" err="1">
                <a:solidFill>
                  <a:srgbClr val="FFFFFF"/>
                </a:solidFill>
              </a:rPr>
              <a:t>CheckList</a:t>
            </a:r>
            <a:endParaRPr lang="en-IN" sz="4000" dirty="0">
              <a:solidFill>
                <a:srgbClr val="FFFFFF"/>
              </a:solidFill>
            </a:endParaRPr>
          </a:p>
        </p:txBody>
      </p:sp>
      <p:sp>
        <p:nvSpPr>
          <p:cNvPr id="3" name="Content Placeholder 2">
            <a:extLst>
              <a:ext uri="{FF2B5EF4-FFF2-40B4-BE49-F238E27FC236}">
                <a16:creationId xmlns:a16="http://schemas.microsoft.com/office/drawing/2014/main" id="{75AF462C-1C14-4DE1-6149-6C7B3B4B2F8F}"/>
              </a:ext>
            </a:extLst>
          </p:cNvPr>
          <p:cNvSpPr>
            <a:spLocks noGrp="1"/>
          </p:cNvSpPr>
          <p:nvPr>
            <p:ph idx="1"/>
          </p:nvPr>
        </p:nvSpPr>
        <p:spPr>
          <a:xfrm>
            <a:off x="712838" y="2052726"/>
            <a:ext cx="9724031" cy="3683358"/>
          </a:xfrm>
        </p:spPr>
        <p:txBody>
          <a:bodyPr anchor="ctr">
            <a:normAutofit/>
          </a:bodyPr>
          <a:lstStyle/>
          <a:p>
            <a:r>
              <a:rPr lang="en-US" sz="2000" b="1" dirty="0"/>
              <a:t>Assertions</a:t>
            </a:r>
          </a:p>
          <a:p>
            <a:pPr marL="0" indent="0">
              <a:buNone/>
            </a:pPr>
            <a:r>
              <a:rPr lang="en-US" sz="2000" b="1" dirty="0"/>
              <a:t>    </a:t>
            </a:r>
            <a:r>
              <a:rPr lang="en-US" sz="2000" dirty="0"/>
              <a:t>Assertions are used to validate the correctness of server responses. They check whether the expected output is received, such as verifying response codes, specific text, or response time limits.</a:t>
            </a:r>
          </a:p>
          <a:p>
            <a:r>
              <a:rPr lang="en-US" sz="2000" b="1" dirty="0"/>
              <a:t>Test Data Validation:</a:t>
            </a:r>
          </a:p>
          <a:p>
            <a:pPr marL="0" indent="0">
              <a:buNone/>
            </a:pPr>
            <a:r>
              <a:rPr lang="en-US" sz="2000" dirty="0"/>
              <a:t>    Test data validation ensures that the input data used in the script is correct, unique, and sufficient. Poor test data can lead to inaccurate results or script failures, so it is important to verify the quality and usability of the data.</a:t>
            </a:r>
          </a:p>
          <a:p>
            <a:pPr marL="0" indent="0">
              <a:buNone/>
            </a:pPr>
            <a:endParaRPr lang="en-IN" sz="2000" b="1" dirty="0"/>
          </a:p>
        </p:txBody>
      </p:sp>
    </p:spTree>
    <p:extLst>
      <p:ext uri="{BB962C8B-B14F-4D97-AF65-F5344CB8AC3E}">
        <p14:creationId xmlns:p14="http://schemas.microsoft.com/office/powerpoint/2010/main" val="97450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E449FD-78D7-4B9B-ABDF-EC8B0C0D28D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E15706-0879-5004-5197-834720DB35C6}"/>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Terminologies in </a:t>
            </a:r>
            <a:r>
              <a:rPr lang="en-US" sz="4000" dirty="0" err="1">
                <a:solidFill>
                  <a:srgbClr val="FFFFFF"/>
                </a:solidFill>
              </a:rPr>
              <a:t>Jmeter</a:t>
            </a:r>
            <a:r>
              <a:rPr lang="en-US" sz="4000" dirty="0">
                <a:solidFill>
                  <a:srgbClr val="FFFFFF"/>
                </a:solidFill>
              </a:rPr>
              <a:t>  Scenario Design</a:t>
            </a:r>
            <a:endParaRPr lang="en-IN" sz="4000" dirty="0">
              <a:solidFill>
                <a:srgbClr val="FFFFFF"/>
              </a:solidFill>
            </a:endParaRPr>
          </a:p>
        </p:txBody>
      </p:sp>
      <p:sp>
        <p:nvSpPr>
          <p:cNvPr id="3" name="Content Placeholder 2">
            <a:extLst>
              <a:ext uri="{FF2B5EF4-FFF2-40B4-BE49-F238E27FC236}">
                <a16:creationId xmlns:a16="http://schemas.microsoft.com/office/drawing/2014/main" id="{8A5484F4-69AD-D7E2-E4A4-45E523669C6B}"/>
              </a:ext>
            </a:extLst>
          </p:cNvPr>
          <p:cNvSpPr>
            <a:spLocks noGrp="1"/>
          </p:cNvSpPr>
          <p:nvPr>
            <p:ph idx="1"/>
          </p:nvPr>
        </p:nvSpPr>
        <p:spPr>
          <a:xfrm>
            <a:off x="646469" y="1779797"/>
            <a:ext cx="10899058" cy="4882456"/>
          </a:xfrm>
        </p:spPr>
        <p:txBody>
          <a:bodyPr anchor="ctr">
            <a:normAutofit/>
          </a:bodyPr>
          <a:lstStyle/>
          <a:p>
            <a:r>
              <a:rPr lang="en-US" sz="2000" b="1" dirty="0"/>
              <a:t>Workload:</a:t>
            </a:r>
          </a:p>
          <a:p>
            <a:pPr marL="0" indent="0">
              <a:buNone/>
            </a:pPr>
            <a:r>
              <a:rPr lang="en-US" sz="2000" dirty="0"/>
              <a:t>     </a:t>
            </a:r>
            <a:r>
              <a:rPr lang="en-US" sz="2000" dirty="0">
                <a:latin typeface="Segoe UI" panose="020B0502040204020203" pitchFamily="34" charset="0"/>
              </a:rPr>
              <a:t>The workload or load model defines how the system will be tested in terms of user traffic. It specifies how many users will access the application, how they will behave, and how the load will be distributed over time. </a:t>
            </a:r>
          </a:p>
          <a:p>
            <a:r>
              <a:rPr lang="en-IN" sz="2000" b="1" dirty="0"/>
              <a:t>Ramp-Up Period:</a:t>
            </a:r>
          </a:p>
          <a:p>
            <a:pPr marL="0" indent="0">
              <a:buNone/>
            </a:pPr>
            <a:r>
              <a:rPr lang="en-IN" sz="2000" dirty="0"/>
              <a:t>    </a:t>
            </a:r>
            <a:r>
              <a:rPr lang="en-US" sz="2000" dirty="0">
                <a:latin typeface="Segoe UI" panose="020B0502040204020203" pitchFamily="34" charset="0"/>
              </a:rPr>
              <a:t>Ramp-up period refers to the time taken to gradually increase the number of virtual users in the test. Instead of suddenly applying full load, users are added incrementally to simulate realistic traffic.</a:t>
            </a:r>
          </a:p>
          <a:p>
            <a:r>
              <a:rPr lang="en-IN" sz="2000" b="1" dirty="0"/>
              <a:t>Throughput:</a:t>
            </a:r>
          </a:p>
          <a:p>
            <a:pPr marL="0" indent="0">
              <a:buNone/>
            </a:pPr>
            <a:r>
              <a:rPr lang="en-IN" sz="2000" dirty="0"/>
              <a:t>     </a:t>
            </a:r>
            <a:r>
              <a:rPr lang="en-US" sz="2000" dirty="0">
                <a:latin typeface="Segoe UI" panose="020B0502040204020203" pitchFamily="34" charset="0"/>
              </a:rPr>
              <a:t>Throughput is the measure of how many requests the system can handle per second or minute. </a:t>
            </a:r>
          </a:p>
          <a:p>
            <a:r>
              <a:rPr lang="en-US" sz="2000" b="1" dirty="0">
                <a:latin typeface="Segoe UI" panose="020B0502040204020203" pitchFamily="34" charset="0"/>
              </a:rPr>
              <a:t>Response Time:</a:t>
            </a:r>
          </a:p>
          <a:p>
            <a:pPr marL="0" indent="0">
              <a:buNone/>
            </a:pPr>
            <a:r>
              <a:rPr lang="en-US" sz="2000" dirty="0">
                <a:latin typeface="Segoe UI" panose="020B0502040204020203" pitchFamily="34" charset="0"/>
              </a:rPr>
              <a:t>    Response time is the total time taken by the server to respond to a request sent by a user.</a:t>
            </a:r>
          </a:p>
        </p:txBody>
      </p:sp>
    </p:spTree>
    <p:extLst>
      <p:ext uri="{BB962C8B-B14F-4D97-AF65-F5344CB8AC3E}">
        <p14:creationId xmlns:p14="http://schemas.microsoft.com/office/powerpoint/2010/main" val="2958670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4702CF-C8B8-0DA2-25D3-BA66493579B8}"/>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Aggregate Report Terminologies</a:t>
            </a:r>
            <a:endParaRPr lang="en-IN" sz="4000" dirty="0">
              <a:solidFill>
                <a:srgbClr val="FFFFFF"/>
              </a:solidFill>
            </a:endParaRPr>
          </a:p>
        </p:txBody>
      </p:sp>
      <p:sp>
        <p:nvSpPr>
          <p:cNvPr id="6" name="Content Placeholder 5">
            <a:extLst>
              <a:ext uri="{FF2B5EF4-FFF2-40B4-BE49-F238E27FC236}">
                <a16:creationId xmlns:a16="http://schemas.microsoft.com/office/drawing/2014/main" id="{EA0D4DB3-0792-A693-6EFC-D94E5CC3AC68}"/>
              </a:ext>
            </a:extLst>
          </p:cNvPr>
          <p:cNvSpPr>
            <a:spLocks noGrp="1"/>
          </p:cNvSpPr>
          <p:nvPr>
            <p:ph idx="1"/>
          </p:nvPr>
        </p:nvSpPr>
        <p:spPr>
          <a:xfrm>
            <a:off x="641555" y="1885279"/>
            <a:ext cx="10515600" cy="4351338"/>
          </a:xfrm>
        </p:spPr>
        <p:txBody>
          <a:bodyPr>
            <a:normAutofit/>
          </a:bodyPr>
          <a:lstStyle/>
          <a:p>
            <a:pPr fontAlgn="t">
              <a:lnSpc>
                <a:spcPct val="100000"/>
              </a:lnSpc>
            </a:pPr>
            <a:r>
              <a:rPr lang="en-US" sz="2000" b="1" dirty="0">
                <a:latin typeface="Segoe UI" panose="020B0502040204020203" pitchFamily="34" charset="0"/>
              </a:rPr>
              <a:t>Label</a:t>
            </a:r>
            <a:r>
              <a:rPr lang="en-US" sz="2000" dirty="0">
                <a:latin typeface="Segoe UI" panose="020B0502040204020203" pitchFamily="34" charset="0"/>
              </a:rPr>
              <a:t> – Name of the request or sampler; identifies which API/transaction the metrics belong to.</a:t>
            </a:r>
          </a:p>
          <a:p>
            <a:pPr fontAlgn="t">
              <a:lnSpc>
                <a:spcPct val="100000"/>
              </a:lnSpc>
            </a:pPr>
            <a:r>
              <a:rPr lang="en-US" sz="2000" b="1" dirty="0">
                <a:latin typeface="Segoe UI" panose="020B0502040204020203" pitchFamily="34" charset="0"/>
              </a:rPr>
              <a:t>#Samples</a:t>
            </a:r>
            <a:r>
              <a:rPr lang="en-US" sz="2000" dirty="0">
                <a:latin typeface="Segoe UI" panose="020B0502040204020203" pitchFamily="34" charset="0"/>
              </a:rPr>
              <a:t> – Total number of requests executed for that label during the test.</a:t>
            </a:r>
          </a:p>
          <a:p>
            <a:pPr fontAlgn="t">
              <a:lnSpc>
                <a:spcPct val="100000"/>
              </a:lnSpc>
            </a:pPr>
            <a:r>
              <a:rPr lang="en-US" sz="2000" b="1" dirty="0">
                <a:latin typeface="Segoe UI" panose="020B0502040204020203" pitchFamily="34" charset="0"/>
              </a:rPr>
              <a:t>Average </a:t>
            </a:r>
            <a:r>
              <a:rPr lang="en-US" sz="2000" dirty="0">
                <a:latin typeface="Segoe UI" panose="020B0502040204020203" pitchFamily="34" charset="0"/>
              </a:rPr>
              <a:t> – Mean response time of all requests; gives an overall performance view.</a:t>
            </a:r>
          </a:p>
          <a:p>
            <a:pPr fontAlgn="t">
              <a:lnSpc>
                <a:spcPct val="100000"/>
              </a:lnSpc>
            </a:pPr>
            <a:r>
              <a:rPr lang="en-US" sz="2000" b="1" dirty="0">
                <a:latin typeface="Segoe UI" panose="020B0502040204020203" pitchFamily="34" charset="0"/>
              </a:rPr>
              <a:t>Min </a:t>
            </a:r>
            <a:r>
              <a:rPr lang="en-US" sz="2000" dirty="0">
                <a:latin typeface="Segoe UI" panose="020B0502040204020203" pitchFamily="34" charset="0"/>
              </a:rPr>
              <a:t> – Fastest response time recorded for a request (best-case scenario).</a:t>
            </a:r>
          </a:p>
          <a:p>
            <a:pPr fontAlgn="t">
              <a:lnSpc>
                <a:spcPct val="100000"/>
              </a:lnSpc>
            </a:pPr>
            <a:r>
              <a:rPr lang="en-US" sz="2000" b="1" dirty="0">
                <a:latin typeface="Segoe UI" panose="020B0502040204020203" pitchFamily="34" charset="0"/>
              </a:rPr>
              <a:t>Max </a:t>
            </a:r>
            <a:r>
              <a:rPr lang="en-US" sz="2000" dirty="0">
                <a:latin typeface="Segoe UI" panose="020B0502040204020203" pitchFamily="34" charset="0"/>
              </a:rPr>
              <a:t> – Slowest response time recorded (worst-case scenario).</a:t>
            </a:r>
          </a:p>
          <a:p>
            <a:pPr fontAlgn="t">
              <a:lnSpc>
                <a:spcPct val="100000"/>
              </a:lnSpc>
            </a:pPr>
            <a:r>
              <a:rPr lang="en-US" sz="2000" b="1" dirty="0">
                <a:latin typeface="Segoe UI" panose="020B0502040204020203" pitchFamily="34" charset="0"/>
              </a:rPr>
              <a:t>Std. Dev.</a:t>
            </a:r>
            <a:r>
              <a:rPr lang="en-US" sz="2000" dirty="0">
                <a:latin typeface="Segoe UI" panose="020B0502040204020203" pitchFamily="34" charset="0"/>
              </a:rPr>
              <a:t> – Measures variation in response times; higher value means inconsistent performance.</a:t>
            </a:r>
          </a:p>
          <a:p>
            <a:pPr fontAlgn="t">
              <a:lnSpc>
                <a:spcPct val="100000"/>
              </a:lnSpc>
            </a:pPr>
            <a:r>
              <a:rPr lang="en-US" sz="2000" b="1" dirty="0">
                <a:latin typeface="Segoe UI" panose="020B0502040204020203" pitchFamily="34" charset="0"/>
              </a:rPr>
              <a:t>Error %</a:t>
            </a:r>
            <a:r>
              <a:rPr lang="en-US" sz="2000" dirty="0">
                <a:latin typeface="Segoe UI" panose="020B0502040204020203" pitchFamily="34" charset="0"/>
              </a:rPr>
              <a:t> – Percentage of failed requests; indicates system reliability issues.</a:t>
            </a:r>
          </a:p>
          <a:p>
            <a:pPr fontAlgn="t">
              <a:lnSpc>
                <a:spcPct val="100000"/>
              </a:lnSpc>
            </a:pPr>
            <a:r>
              <a:rPr lang="en-US" sz="2000" b="1" dirty="0">
                <a:latin typeface="Segoe UI" panose="020B0502040204020203" pitchFamily="34" charset="0"/>
              </a:rPr>
              <a:t>Throughput</a:t>
            </a:r>
            <a:r>
              <a:rPr lang="en-US" sz="2000" dirty="0">
                <a:latin typeface="Segoe UI" panose="020B0502040204020203" pitchFamily="34" charset="0"/>
              </a:rPr>
              <a:t> – Number of requests processed per unit time (e.g., requests per second).</a:t>
            </a:r>
          </a:p>
        </p:txBody>
      </p:sp>
    </p:spTree>
    <p:extLst>
      <p:ext uri="{BB962C8B-B14F-4D97-AF65-F5344CB8AC3E}">
        <p14:creationId xmlns:p14="http://schemas.microsoft.com/office/powerpoint/2010/main" val="741798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C5F27F-F4E4-B481-B091-64E72D4F3D7B}"/>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Sections in summary report</a:t>
            </a:r>
            <a:endParaRPr lang="en-IN" sz="4000" dirty="0">
              <a:solidFill>
                <a:srgbClr val="FFFFFF"/>
              </a:solidFill>
            </a:endParaRPr>
          </a:p>
        </p:txBody>
      </p:sp>
      <p:sp>
        <p:nvSpPr>
          <p:cNvPr id="6" name="Content Placeholder 5">
            <a:extLst>
              <a:ext uri="{FF2B5EF4-FFF2-40B4-BE49-F238E27FC236}">
                <a16:creationId xmlns:a16="http://schemas.microsoft.com/office/drawing/2014/main" id="{337116C6-D948-47A2-D7C1-D58D29A5A8E6}"/>
              </a:ext>
            </a:extLst>
          </p:cNvPr>
          <p:cNvSpPr>
            <a:spLocks noGrp="1"/>
          </p:cNvSpPr>
          <p:nvPr>
            <p:ph idx="1"/>
          </p:nvPr>
        </p:nvSpPr>
        <p:spPr>
          <a:xfrm>
            <a:off x="459350" y="1978025"/>
            <a:ext cx="11383297" cy="4879975"/>
          </a:xfrm>
        </p:spPr>
        <p:txBody>
          <a:bodyPr>
            <a:normAutofit/>
          </a:bodyPr>
          <a:lstStyle/>
          <a:p>
            <a:pPr fontAlgn="t">
              <a:lnSpc>
                <a:spcPct val="100000"/>
              </a:lnSpc>
            </a:pPr>
            <a:r>
              <a:rPr lang="en-US" sz="2000" b="1" dirty="0"/>
              <a:t>Executive Summary</a:t>
            </a:r>
            <a:r>
              <a:rPr lang="en-US" sz="2000" dirty="0"/>
              <a:t> – A high-level overview of the test objectives, key findings, and overall result (pass/fail).</a:t>
            </a:r>
          </a:p>
          <a:p>
            <a:pPr fontAlgn="t">
              <a:lnSpc>
                <a:spcPct val="100000"/>
              </a:lnSpc>
            </a:pPr>
            <a:r>
              <a:rPr lang="en-US" sz="2000" b="1" dirty="0"/>
              <a:t>Test Objectives</a:t>
            </a:r>
            <a:r>
              <a:rPr lang="en-US" sz="2000" dirty="0"/>
              <a:t> – Defines the goals of the performance testing, such as validating response time or system scalability.</a:t>
            </a:r>
          </a:p>
          <a:p>
            <a:pPr fontAlgn="t">
              <a:lnSpc>
                <a:spcPct val="100000"/>
              </a:lnSpc>
            </a:pPr>
            <a:r>
              <a:rPr lang="en-US" sz="2000" b="1" dirty="0"/>
              <a:t>Scope of Testing</a:t>
            </a:r>
            <a:r>
              <a:rPr lang="en-US" sz="2000" dirty="0"/>
              <a:t> – Specifies what features, modules, or APIs were included and excluded in the test.</a:t>
            </a:r>
          </a:p>
          <a:p>
            <a:pPr fontAlgn="t">
              <a:lnSpc>
                <a:spcPct val="100000"/>
              </a:lnSpc>
            </a:pPr>
            <a:r>
              <a:rPr lang="en-US" sz="2000" b="1" dirty="0"/>
              <a:t>Test Environment Details</a:t>
            </a:r>
            <a:r>
              <a:rPr lang="en-US" sz="2000" dirty="0"/>
              <a:t> – Describes the hardware, software, network setup, and tools used during testing.</a:t>
            </a:r>
          </a:p>
          <a:p>
            <a:pPr fontAlgn="t">
              <a:lnSpc>
                <a:spcPct val="100000"/>
              </a:lnSpc>
            </a:pPr>
            <a:r>
              <a:rPr lang="en-US" sz="2000" b="1" dirty="0"/>
              <a:t>Test Scenarios / Workload Model</a:t>
            </a:r>
            <a:r>
              <a:rPr lang="en-US" sz="2000" dirty="0"/>
              <a:t> – Lists user scenarios and how load is distributed across them.</a:t>
            </a:r>
          </a:p>
          <a:p>
            <a:pPr fontAlgn="t">
              <a:lnSpc>
                <a:spcPct val="100000"/>
              </a:lnSpc>
            </a:pPr>
            <a:r>
              <a:rPr lang="en-US" sz="2000" b="1" dirty="0"/>
              <a:t>Test Configuration</a:t>
            </a:r>
            <a:r>
              <a:rPr lang="en-US" sz="2000" dirty="0"/>
              <a:t> – Provides details like number of users, ramp-up time, duration, and iterations.</a:t>
            </a:r>
          </a:p>
          <a:p>
            <a:pPr fontAlgn="t">
              <a:lnSpc>
                <a:spcPct val="100000"/>
              </a:lnSpc>
            </a:pPr>
            <a:r>
              <a:rPr lang="en-US" sz="2000" b="1" dirty="0"/>
              <a:t>Key Metrics Collected</a:t>
            </a:r>
            <a:r>
              <a:rPr lang="en-US" sz="2000" dirty="0"/>
              <a:t> – Includes important metrics like response time, throughput, and error rate.</a:t>
            </a:r>
          </a:p>
        </p:txBody>
      </p:sp>
    </p:spTree>
    <p:extLst>
      <p:ext uri="{BB962C8B-B14F-4D97-AF65-F5344CB8AC3E}">
        <p14:creationId xmlns:p14="http://schemas.microsoft.com/office/powerpoint/2010/main" val="2269732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80F7F3-E48F-570A-F402-B519E324C1E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AI, Gen AI, Agentic AI</a:t>
            </a:r>
          </a:p>
        </p:txBody>
      </p:sp>
      <p:graphicFrame>
        <p:nvGraphicFramePr>
          <p:cNvPr id="13" name="Content Placeholder 12">
            <a:extLst>
              <a:ext uri="{FF2B5EF4-FFF2-40B4-BE49-F238E27FC236}">
                <a16:creationId xmlns:a16="http://schemas.microsoft.com/office/drawing/2014/main" id="{AF29DBB8-5485-6F43-DBA1-1499AA31ECE8}"/>
              </a:ext>
            </a:extLst>
          </p:cNvPr>
          <p:cNvGraphicFramePr>
            <a:graphicFrameLocks noGrp="1"/>
          </p:cNvGraphicFramePr>
          <p:nvPr>
            <p:ph idx="1"/>
            <p:extLst>
              <p:ext uri="{D42A27DB-BD31-4B8C-83A1-F6EECF244321}">
                <p14:modId xmlns:p14="http://schemas.microsoft.com/office/powerpoint/2010/main" val="4195491163"/>
              </p:ext>
            </p:extLst>
          </p:nvPr>
        </p:nvGraphicFramePr>
        <p:xfrm>
          <a:off x="838200" y="1825625"/>
          <a:ext cx="10515597" cy="4485640"/>
        </p:xfrm>
        <a:graphic>
          <a:graphicData uri="http://schemas.openxmlformats.org/drawingml/2006/table">
            <a:tbl>
              <a:tblPr firstRow="1" bandRow="1">
                <a:tableStyleId>{5940675A-B579-460E-94D1-54222C63F5DA}</a:tableStyleId>
              </a:tblPr>
              <a:tblGrid>
                <a:gridCol w="3505199">
                  <a:extLst>
                    <a:ext uri="{9D8B030D-6E8A-4147-A177-3AD203B41FA5}">
                      <a16:colId xmlns:a16="http://schemas.microsoft.com/office/drawing/2014/main" val="3639494093"/>
                    </a:ext>
                  </a:extLst>
                </a:gridCol>
                <a:gridCol w="3505199">
                  <a:extLst>
                    <a:ext uri="{9D8B030D-6E8A-4147-A177-3AD203B41FA5}">
                      <a16:colId xmlns:a16="http://schemas.microsoft.com/office/drawing/2014/main" val="2495475391"/>
                    </a:ext>
                  </a:extLst>
                </a:gridCol>
                <a:gridCol w="3505199">
                  <a:extLst>
                    <a:ext uri="{9D8B030D-6E8A-4147-A177-3AD203B41FA5}">
                      <a16:colId xmlns:a16="http://schemas.microsoft.com/office/drawing/2014/main" val="2888488108"/>
                    </a:ext>
                  </a:extLst>
                </a:gridCol>
              </a:tblGrid>
              <a:tr h="370840">
                <a:tc>
                  <a:txBody>
                    <a:bodyPr/>
                    <a:lstStyle/>
                    <a:p>
                      <a:pPr algn="ctr"/>
                      <a:r>
                        <a:rPr lang="en-US" b="1" dirty="0"/>
                        <a:t>AI</a:t>
                      </a:r>
                      <a:endParaRPr lang="en-IN" b="1" dirty="0"/>
                    </a:p>
                  </a:txBody>
                  <a:tcPr/>
                </a:tc>
                <a:tc>
                  <a:txBody>
                    <a:bodyPr/>
                    <a:lstStyle/>
                    <a:p>
                      <a:pPr algn="ctr"/>
                      <a:r>
                        <a:rPr lang="en-US" b="1" dirty="0"/>
                        <a:t>GEN AI</a:t>
                      </a:r>
                      <a:endParaRPr lang="en-IN" b="1" dirty="0"/>
                    </a:p>
                  </a:txBody>
                  <a:tcPr/>
                </a:tc>
                <a:tc>
                  <a:txBody>
                    <a:bodyPr/>
                    <a:lstStyle/>
                    <a:p>
                      <a:pPr algn="ctr"/>
                      <a:r>
                        <a:rPr lang="en-US" b="1" dirty="0"/>
                        <a:t>Agentic AI</a:t>
                      </a:r>
                      <a:endParaRPr lang="en-IN" b="1" dirty="0"/>
                    </a:p>
                  </a:txBody>
                  <a:tcPr/>
                </a:tc>
                <a:extLst>
                  <a:ext uri="{0D108BD9-81ED-4DB2-BD59-A6C34878D82A}">
                    <a16:rowId xmlns:a16="http://schemas.microsoft.com/office/drawing/2014/main" val="4291201408"/>
                  </a:ext>
                </a:extLst>
              </a:tr>
              <a:tr h="370840">
                <a:tc>
                  <a:txBody>
                    <a:bodyPr/>
                    <a:lstStyle/>
                    <a:p>
                      <a:pPr>
                        <a:buNone/>
                      </a:pPr>
                      <a:r>
                        <a:rPr lang="en-US">
                          <a:effectLst/>
                        </a:rPr>
                        <a:t>Artificial Intelligence is a broad field that enables machines to simulate human intelligence</a:t>
                      </a:r>
                    </a:p>
                  </a:txBody>
                  <a:tcPr anchor="ctr"/>
                </a:tc>
                <a:tc>
                  <a:txBody>
                    <a:bodyPr/>
                    <a:lstStyle/>
                    <a:p>
                      <a:pPr>
                        <a:buNone/>
                      </a:pPr>
                      <a:r>
                        <a:rPr lang="en-US" dirty="0">
                          <a:effectLst/>
                        </a:rPr>
                        <a:t>Generative AI is a subset of AI that creates new content like text, images, and code</a:t>
                      </a:r>
                    </a:p>
                  </a:txBody>
                  <a:tcPr anchor="ctr"/>
                </a:tc>
                <a:tc>
                  <a:txBody>
                    <a:bodyPr/>
                    <a:lstStyle/>
                    <a:p>
                      <a:pPr>
                        <a:buNone/>
                      </a:pPr>
                      <a:r>
                        <a:rPr lang="en-US">
                          <a:effectLst/>
                        </a:rPr>
                        <a:t>Agentic AI refers to systems that act autonomously to achieve goals</a:t>
                      </a:r>
                    </a:p>
                  </a:txBody>
                  <a:tcPr anchor="ctr"/>
                </a:tc>
                <a:extLst>
                  <a:ext uri="{0D108BD9-81ED-4DB2-BD59-A6C34878D82A}">
                    <a16:rowId xmlns:a16="http://schemas.microsoft.com/office/drawing/2014/main" val="529105498"/>
                  </a:ext>
                </a:extLst>
              </a:tr>
              <a:tr h="370840">
                <a:tc>
                  <a:txBody>
                    <a:bodyPr/>
                    <a:lstStyle/>
                    <a:p>
                      <a:pPr>
                        <a:buNone/>
                      </a:pPr>
                      <a:r>
                        <a:rPr lang="en-US">
                          <a:effectLst/>
                        </a:rPr>
                        <a:t>Analyzes data, learns patterns, and makes decisions</a:t>
                      </a:r>
                    </a:p>
                  </a:txBody>
                  <a:tcPr anchor="ctr"/>
                </a:tc>
                <a:tc>
                  <a:txBody>
                    <a:bodyPr/>
                    <a:lstStyle/>
                    <a:p>
                      <a:pPr>
                        <a:buNone/>
                      </a:pPr>
                      <a:r>
                        <a:rPr lang="en-US">
                          <a:effectLst/>
                        </a:rPr>
                        <a:t>Generates new content based on existing data</a:t>
                      </a:r>
                    </a:p>
                  </a:txBody>
                  <a:tcPr anchor="ctr"/>
                </a:tc>
                <a:tc>
                  <a:txBody>
                    <a:bodyPr/>
                    <a:lstStyle/>
                    <a:p>
                      <a:pPr>
                        <a:buNone/>
                      </a:pPr>
                      <a:r>
                        <a:rPr lang="en-US">
                          <a:effectLst/>
                        </a:rPr>
                        <a:t>Plans, decides, and executes tasks independently</a:t>
                      </a:r>
                    </a:p>
                  </a:txBody>
                  <a:tcPr anchor="ctr"/>
                </a:tc>
                <a:extLst>
                  <a:ext uri="{0D108BD9-81ED-4DB2-BD59-A6C34878D82A}">
                    <a16:rowId xmlns:a16="http://schemas.microsoft.com/office/drawing/2014/main" val="2648715967"/>
                  </a:ext>
                </a:extLst>
              </a:tr>
              <a:tr h="370840">
                <a:tc>
                  <a:txBody>
                    <a:bodyPr/>
                    <a:lstStyle/>
                    <a:p>
                      <a:pPr>
                        <a:buNone/>
                      </a:pPr>
                      <a:r>
                        <a:rPr lang="en-US">
                          <a:effectLst/>
                        </a:rPr>
                        <a:t>Focuses on problem-solving and decision-making</a:t>
                      </a:r>
                    </a:p>
                  </a:txBody>
                  <a:tcPr anchor="ctr"/>
                </a:tc>
                <a:tc>
                  <a:txBody>
                    <a:bodyPr/>
                    <a:lstStyle/>
                    <a:p>
                      <a:pPr>
                        <a:buNone/>
                      </a:pPr>
                      <a:r>
                        <a:rPr lang="en-IN">
                          <a:effectLst/>
                        </a:rPr>
                        <a:t>Focuses on content creation</a:t>
                      </a:r>
                    </a:p>
                  </a:txBody>
                  <a:tcPr anchor="ctr"/>
                </a:tc>
                <a:tc>
                  <a:txBody>
                    <a:bodyPr/>
                    <a:lstStyle/>
                    <a:p>
                      <a:pPr>
                        <a:buNone/>
                      </a:pPr>
                      <a:r>
                        <a:rPr lang="en-US">
                          <a:effectLst/>
                        </a:rPr>
                        <a:t>Focuses on autonomous actions and workflows</a:t>
                      </a:r>
                    </a:p>
                  </a:txBody>
                  <a:tcPr anchor="ctr"/>
                </a:tc>
                <a:extLst>
                  <a:ext uri="{0D108BD9-81ED-4DB2-BD59-A6C34878D82A}">
                    <a16:rowId xmlns:a16="http://schemas.microsoft.com/office/drawing/2014/main" val="3876633475"/>
                  </a:ext>
                </a:extLst>
              </a:tr>
              <a:tr h="370840">
                <a:tc>
                  <a:txBody>
                    <a:bodyPr/>
                    <a:lstStyle/>
                    <a:p>
                      <a:pPr>
                        <a:buNone/>
                      </a:pPr>
                      <a:r>
                        <a:rPr lang="en-US">
                          <a:effectLst/>
                        </a:rPr>
                        <a:t>Produces predictions, classifications, and insights</a:t>
                      </a:r>
                    </a:p>
                  </a:txBody>
                  <a:tcPr anchor="ctr"/>
                </a:tc>
                <a:tc>
                  <a:txBody>
                    <a:bodyPr/>
                    <a:lstStyle/>
                    <a:p>
                      <a:pPr>
                        <a:buNone/>
                      </a:pPr>
                      <a:r>
                        <a:rPr lang="en-IN">
                          <a:effectLst/>
                        </a:rPr>
                        <a:t>Produces text, images, audio, or code</a:t>
                      </a:r>
                    </a:p>
                  </a:txBody>
                  <a:tcPr anchor="ctr"/>
                </a:tc>
                <a:tc>
                  <a:txBody>
                    <a:bodyPr/>
                    <a:lstStyle/>
                    <a:p>
                      <a:pPr>
                        <a:buNone/>
                      </a:pPr>
                      <a:r>
                        <a:rPr lang="en-US">
                          <a:effectLst/>
                        </a:rPr>
                        <a:t>Produces actions along with decisions and completed tasks</a:t>
                      </a:r>
                    </a:p>
                  </a:txBody>
                  <a:tcPr anchor="ctr"/>
                </a:tc>
                <a:extLst>
                  <a:ext uri="{0D108BD9-81ED-4DB2-BD59-A6C34878D82A}">
                    <a16:rowId xmlns:a16="http://schemas.microsoft.com/office/drawing/2014/main" val="632837079"/>
                  </a:ext>
                </a:extLst>
              </a:tr>
              <a:tr h="370840">
                <a:tc>
                  <a:txBody>
                    <a:bodyPr/>
                    <a:lstStyle/>
                    <a:p>
                      <a:pPr>
                        <a:buNone/>
                      </a:pPr>
                      <a:r>
                        <a:rPr lang="en-IN">
                          <a:effectLst/>
                        </a:rPr>
                        <a:t>Requires moderate human involvement</a:t>
                      </a:r>
                    </a:p>
                  </a:txBody>
                  <a:tcPr anchor="ctr"/>
                </a:tc>
                <a:tc>
                  <a:txBody>
                    <a:bodyPr/>
                    <a:lstStyle/>
                    <a:p>
                      <a:pPr>
                        <a:buNone/>
                      </a:pPr>
                      <a:r>
                        <a:rPr lang="en-IN">
                          <a:effectLst/>
                        </a:rPr>
                        <a:t>Requires moderate human guidance</a:t>
                      </a:r>
                    </a:p>
                  </a:txBody>
                  <a:tcPr anchor="ctr"/>
                </a:tc>
                <a:tc>
                  <a:txBody>
                    <a:bodyPr/>
                    <a:lstStyle/>
                    <a:p>
                      <a:pPr>
                        <a:buNone/>
                      </a:pPr>
                      <a:r>
                        <a:rPr lang="en-IN">
                          <a:effectLst/>
                        </a:rPr>
                        <a:t>Requires minimal human intervention</a:t>
                      </a:r>
                    </a:p>
                  </a:txBody>
                  <a:tcPr anchor="ctr"/>
                </a:tc>
                <a:extLst>
                  <a:ext uri="{0D108BD9-81ED-4DB2-BD59-A6C34878D82A}">
                    <a16:rowId xmlns:a16="http://schemas.microsoft.com/office/drawing/2014/main" val="321965659"/>
                  </a:ext>
                </a:extLst>
              </a:tr>
              <a:tr h="370840">
                <a:tc>
                  <a:txBody>
                    <a:bodyPr/>
                    <a:lstStyle/>
                    <a:p>
                      <a:pPr>
                        <a:buNone/>
                      </a:pPr>
                      <a:r>
                        <a:rPr lang="en-US">
                          <a:effectLst/>
                        </a:rPr>
                        <a:t>Examples include fraud detection and recommendation systems</a:t>
                      </a:r>
                    </a:p>
                  </a:txBody>
                  <a:tcPr anchor="ctr"/>
                </a:tc>
                <a:tc>
                  <a:txBody>
                    <a:bodyPr/>
                    <a:lstStyle/>
                    <a:p>
                      <a:pPr>
                        <a:buNone/>
                      </a:pPr>
                      <a:r>
                        <a:rPr lang="en-US">
                          <a:effectLst/>
                        </a:rPr>
                        <a:t>Examples include ChatGPT and DALL·E</a:t>
                      </a:r>
                    </a:p>
                  </a:txBody>
                  <a:tcPr anchor="ctr"/>
                </a:tc>
                <a:tc>
                  <a:txBody>
                    <a:bodyPr/>
                    <a:lstStyle/>
                    <a:p>
                      <a:pPr>
                        <a:buNone/>
                      </a:pPr>
                      <a:r>
                        <a:rPr lang="en-US" dirty="0">
                          <a:effectLst/>
                        </a:rPr>
                        <a:t>Examples include AI agents performing automated tasks</a:t>
                      </a:r>
                    </a:p>
                  </a:txBody>
                  <a:tcPr anchor="ctr"/>
                </a:tc>
                <a:extLst>
                  <a:ext uri="{0D108BD9-81ED-4DB2-BD59-A6C34878D82A}">
                    <a16:rowId xmlns:a16="http://schemas.microsoft.com/office/drawing/2014/main" val="2383544346"/>
                  </a:ext>
                </a:extLst>
              </a:tr>
            </a:tbl>
          </a:graphicData>
        </a:graphic>
      </p:graphicFrame>
    </p:spTree>
    <p:extLst>
      <p:ext uri="{BB962C8B-B14F-4D97-AF65-F5344CB8AC3E}">
        <p14:creationId xmlns:p14="http://schemas.microsoft.com/office/powerpoint/2010/main" val="3301652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2A4A2A-3C4F-24B7-9EF3-4303B8318ED0}"/>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Prompt Engineering</a:t>
            </a:r>
            <a:endParaRPr lang="en-IN" sz="4000" dirty="0">
              <a:solidFill>
                <a:srgbClr val="FFFFFF"/>
              </a:solidFill>
            </a:endParaRPr>
          </a:p>
        </p:txBody>
      </p:sp>
      <p:sp>
        <p:nvSpPr>
          <p:cNvPr id="6" name="Content Placeholder 5">
            <a:extLst>
              <a:ext uri="{FF2B5EF4-FFF2-40B4-BE49-F238E27FC236}">
                <a16:creationId xmlns:a16="http://schemas.microsoft.com/office/drawing/2014/main" id="{CA9300F0-198E-FA1D-7452-839CFCB2F3A5}"/>
              </a:ext>
            </a:extLst>
          </p:cNvPr>
          <p:cNvSpPr>
            <a:spLocks noGrp="1"/>
          </p:cNvSpPr>
          <p:nvPr>
            <p:ph idx="1"/>
          </p:nvPr>
        </p:nvSpPr>
        <p:spPr>
          <a:xfrm>
            <a:off x="668594" y="1891970"/>
            <a:ext cx="10598956" cy="4800232"/>
          </a:xfrm>
        </p:spPr>
        <p:txBody>
          <a:bodyPr>
            <a:normAutofit/>
          </a:bodyPr>
          <a:lstStyle/>
          <a:p>
            <a:pPr marL="0" indent="0">
              <a:lnSpc>
                <a:spcPct val="100000"/>
              </a:lnSpc>
              <a:buNone/>
            </a:pPr>
            <a:r>
              <a:rPr lang="en-US" sz="2000" b="1" dirty="0">
                <a:cs typeface="Segoe UI" panose="020B0502040204020203" pitchFamily="34" charset="0"/>
              </a:rPr>
              <a:t>Prompt engineering :</a:t>
            </a:r>
          </a:p>
          <a:p>
            <a:pPr marL="0" indent="0">
              <a:lnSpc>
                <a:spcPct val="100000"/>
              </a:lnSpc>
              <a:buNone/>
            </a:pPr>
            <a:r>
              <a:rPr lang="en-US" sz="2000" b="1" dirty="0">
                <a:cs typeface="Segoe UI" panose="020B0502040204020203" pitchFamily="34" charset="0"/>
              </a:rPr>
              <a:t>     </a:t>
            </a:r>
            <a:r>
              <a:rPr lang="en-US" sz="2000" dirty="0">
                <a:cs typeface="Segoe UI" panose="020B0502040204020203" pitchFamily="34" charset="0"/>
              </a:rPr>
              <a:t>Prompt engineering is the practice of </a:t>
            </a:r>
            <a:r>
              <a:rPr lang="en-US" sz="2000" b="1" dirty="0">
                <a:cs typeface="Segoe UI" panose="020B0502040204020203" pitchFamily="34" charset="0"/>
              </a:rPr>
              <a:t>designing and refining inputs (prompts)</a:t>
            </a:r>
            <a:r>
              <a:rPr lang="en-US" sz="2000" dirty="0">
                <a:cs typeface="Segoe UI" panose="020B0502040204020203" pitchFamily="34" charset="0"/>
              </a:rPr>
              <a:t> given to an AI system so that it produces accurate, relevant, and useful outputs. A prompt can be a question, instruction, or code comment that guides the AI on what to generate.</a:t>
            </a:r>
          </a:p>
          <a:p>
            <a:pPr marL="0" indent="0">
              <a:lnSpc>
                <a:spcPct val="100000"/>
              </a:lnSpc>
              <a:buNone/>
            </a:pPr>
            <a:r>
              <a:rPr lang="en-US" sz="2000" b="1" dirty="0">
                <a:cs typeface="Segoe UI" panose="020B0502040204020203" pitchFamily="34" charset="0"/>
              </a:rPr>
              <a:t>Uses :</a:t>
            </a:r>
          </a:p>
          <a:p>
            <a:pPr>
              <a:lnSpc>
                <a:spcPct val="100000"/>
              </a:lnSpc>
            </a:pPr>
            <a:r>
              <a:rPr lang="en-US" sz="2000" dirty="0">
                <a:cs typeface="Segoe UI" panose="020B0502040204020203" pitchFamily="34" charset="0"/>
              </a:rPr>
              <a:t>Improves code quality</a:t>
            </a:r>
          </a:p>
          <a:p>
            <a:pPr>
              <a:lnSpc>
                <a:spcPct val="100000"/>
              </a:lnSpc>
            </a:pPr>
            <a:r>
              <a:rPr lang="en-US" sz="2000" dirty="0">
                <a:cs typeface="Segoe UI" panose="020B0502040204020203" pitchFamily="34" charset="0"/>
              </a:rPr>
              <a:t>Provides Clear context</a:t>
            </a:r>
          </a:p>
          <a:p>
            <a:pPr>
              <a:lnSpc>
                <a:spcPct val="100000"/>
              </a:lnSpc>
            </a:pPr>
            <a:r>
              <a:rPr lang="en-US" sz="2000" dirty="0">
                <a:cs typeface="Segoe UI" panose="020B0502040204020203" pitchFamily="34" charset="0"/>
              </a:rPr>
              <a:t>Reduces Errors</a:t>
            </a:r>
          </a:p>
          <a:p>
            <a:pPr>
              <a:lnSpc>
                <a:spcPct val="100000"/>
              </a:lnSpc>
            </a:pPr>
            <a:r>
              <a:rPr lang="en-US" sz="2000" dirty="0">
                <a:cs typeface="Segoe UI" panose="020B0502040204020203" pitchFamily="34" charset="0"/>
              </a:rPr>
              <a:t>Boosts productivity</a:t>
            </a:r>
          </a:p>
          <a:p>
            <a:pPr>
              <a:lnSpc>
                <a:spcPct val="100000"/>
              </a:lnSpc>
            </a:pPr>
            <a:r>
              <a:rPr lang="en-US" sz="2000" dirty="0">
                <a:cs typeface="Segoe UI" panose="020B0502040204020203" pitchFamily="34" charset="0"/>
              </a:rPr>
              <a:t>Enables better control</a:t>
            </a:r>
          </a:p>
        </p:txBody>
      </p:sp>
    </p:spTree>
    <p:extLst>
      <p:ext uri="{BB962C8B-B14F-4D97-AF65-F5344CB8AC3E}">
        <p14:creationId xmlns:p14="http://schemas.microsoft.com/office/powerpoint/2010/main" val="3408332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D9282B-8EAB-2F87-2EA5-F6BCBD663322}"/>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AI in Performance engineer</a:t>
            </a:r>
            <a:endParaRPr lang="en-IN" sz="4000" dirty="0">
              <a:solidFill>
                <a:srgbClr val="FFFFFF"/>
              </a:solidFill>
            </a:endParaRPr>
          </a:p>
        </p:txBody>
      </p:sp>
      <p:sp>
        <p:nvSpPr>
          <p:cNvPr id="6" name="Content Placeholder 5">
            <a:extLst>
              <a:ext uri="{FF2B5EF4-FFF2-40B4-BE49-F238E27FC236}">
                <a16:creationId xmlns:a16="http://schemas.microsoft.com/office/drawing/2014/main" id="{EC76A192-C867-6BA5-7A1F-CC4469022374}"/>
              </a:ext>
            </a:extLst>
          </p:cNvPr>
          <p:cNvSpPr>
            <a:spLocks noGrp="1"/>
          </p:cNvSpPr>
          <p:nvPr>
            <p:ph idx="1"/>
          </p:nvPr>
        </p:nvSpPr>
        <p:spPr/>
        <p:txBody>
          <a:bodyPr>
            <a:normAutofit/>
          </a:bodyPr>
          <a:lstStyle/>
          <a:p>
            <a:pPr>
              <a:lnSpc>
                <a:spcPct val="100000"/>
              </a:lnSpc>
            </a:pPr>
            <a:r>
              <a:rPr lang="en-IN" sz="2000" b="1" dirty="0"/>
              <a:t>Intelligent Performance Anomaly Detection :</a:t>
            </a:r>
          </a:p>
          <a:p>
            <a:pPr fontAlgn="t">
              <a:lnSpc>
                <a:spcPct val="100000"/>
              </a:lnSpc>
              <a:buNone/>
            </a:pPr>
            <a:r>
              <a:rPr lang="en-IN" sz="2000" dirty="0"/>
              <a:t>    </a:t>
            </a:r>
            <a:r>
              <a:rPr lang="en-US" sz="2000" dirty="0"/>
              <a:t>AI can automatically analyze large volumes of performance data (response time, CPU usage, logs) to detect unusual patterns or anomalies. Instead of manually checking metrics, machine learning models can identify spikes, slowdowns, or failures in real time and alert teams before they impact users.</a:t>
            </a:r>
          </a:p>
          <a:p>
            <a:pPr fontAlgn="t">
              <a:lnSpc>
                <a:spcPct val="100000"/>
              </a:lnSpc>
              <a:buNone/>
            </a:pPr>
            <a:r>
              <a:rPr lang="en-US" sz="2000" b="1" dirty="0"/>
              <a:t>    Example:</a:t>
            </a:r>
            <a:br>
              <a:rPr lang="en-US" sz="2000" dirty="0"/>
            </a:br>
            <a:r>
              <a:rPr lang="en-US" sz="2000" dirty="0"/>
              <a:t>If an application suddenly shows increased response time at specific hours, AI can detect this deviation, highlight the root cause (e.g., database bottleneck), and trigger alerts.</a:t>
            </a:r>
          </a:p>
          <a:p>
            <a:pPr fontAlgn="t">
              <a:lnSpc>
                <a:spcPct val="100000"/>
              </a:lnSpc>
              <a:buNone/>
            </a:pPr>
            <a:r>
              <a:rPr lang="en-US" sz="2000" dirty="0"/>
              <a:t>    </a:t>
            </a:r>
            <a:r>
              <a:rPr lang="en-US" sz="2000" b="1" dirty="0">
                <a:cs typeface="Segoe UI" panose="020B0502040204020203" pitchFamily="34" charset="0"/>
              </a:rPr>
              <a:t>Benefit:</a:t>
            </a:r>
            <a:r>
              <a:rPr lang="en-US" sz="2000" dirty="0">
                <a:cs typeface="Segoe UI" panose="020B0502040204020203" pitchFamily="34" charset="0"/>
              </a:rPr>
              <a:t> Faster issue detection, reduced downtime, and proactive performance monitoring</a:t>
            </a:r>
            <a:r>
              <a:rPr lang="en-US" sz="2000" dirty="0">
                <a:latin typeface="Segoe UI" panose="020B0502040204020203" pitchFamily="34" charset="0"/>
              </a:rPr>
              <a:t>.</a:t>
            </a:r>
          </a:p>
          <a:p>
            <a:pPr fontAlgn="t">
              <a:lnSpc>
                <a:spcPct val="100000"/>
              </a:lnSpc>
              <a:buNone/>
            </a:pPr>
            <a:endParaRPr lang="en-US" sz="2000" dirty="0"/>
          </a:p>
          <a:p>
            <a:pPr marL="0" indent="0">
              <a:lnSpc>
                <a:spcPct val="100000"/>
              </a:lnSpc>
              <a:buNone/>
            </a:pPr>
            <a:endParaRPr lang="en-IN" sz="2000" dirty="0"/>
          </a:p>
        </p:txBody>
      </p:sp>
    </p:spTree>
    <p:extLst>
      <p:ext uri="{BB962C8B-B14F-4D97-AF65-F5344CB8AC3E}">
        <p14:creationId xmlns:p14="http://schemas.microsoft.com/office/powerpoint/2010/main" val="3261753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A6B9BE-A77B-3928-251F-C24C54F8758B}"/>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AI in Performance engineer</a:t>
            </a:r>
            <a:endParaRPr lang="en-IN" sz="4000" dirty="0">
              <a:solidFill>
                <a:srgbClr val="FFFFFF"/>
              </a:solidFill>
            </a:endParaRPr>
          </a:p>
        </p:txBody>
      </p:sp>
      <p:sp>
        <p:nvSpPr>
          <p:cNvPr id="6" name="Content Placeholder 5">
            <a:extLst>
              <a:ext uri="{FF2B5EF4-FFF2-40B4-BE49-F238E27FC236}">
                <a16:creationId xmlns:a16="http://schemas.microsoft.com/office/drawing/2014/main" id="{EAF19B9B-1567-684A-80BF-1BCC578629EB}"/>
              </a:ext>
            </a:extLst>
          </p:cNvPr>
          <p:cNvSpPr>
            <a:spLocks noGrp="1"/>
          </p:cNvSpPr>
          <p:nvPr>
            <p:ph idx="1"/>
          </p:nvPr>
        </p:nvSpPr>
        <p:spPr>
          <a:xfrm>
            <a:off x="651387" y="1863156"/>
            <a:ext cx="10515600" cy="4351338"/>
          </a:xfrm>
        </p:spPr>
        <p:txBody>
          <a:bodyPr>
            <a:normAutofit/>
          </a:bodyPr>
          <a:lstStyle/>
          <a:p>
            <a:pPr fontAlgn="t">
              <a:lnSpc>
                <a:spcPct val="100000"/>
              </a:lnSpc>
            </a:pPr>
            <a:r>
              <a:rPr lang="en-US" sz="2000" b="1" dirty="0">
                <a:cs typeface="Segoe UI" panose="020B0502040204020203" pitchFamily="34" charset="0"/>
              </a:rPr>
              <a:t>Predictive Capacity Planning and Load Forecasting :</a:t>
            </a:r>
          </a:p>
          <a:p>
            <a:pPr fontAlgn="t">
              <a:lnSpc>
                <a:spcPct val="100000"/>
              </a:lnSpc>
              <a:buNone/>
            </a:pPr>
            <a:r>
              <a:rPr lang="en-US" sz="2000" dirty="0">
                <a:cs typeface="Segoe UI" panose="020B0502040204020203" pitchFamily="34" charset="0"/>
              </a:rPr>
              <a:t>    AI can predict future system load based on historical usage patterns and trends. It helps teams plan infrastructure needs, such as scaling servers or optimizing resources, before performance issues occur.</a:t>
            </a:r>
          </a:p>
          <a:p>
            <a:pPr fontAlgn="t">
              <a:lnSpc>
                <a:spcPct val="100000"/>
              </a:lnSpc>
              <a:buNone/>
            </a:pPr>
            <a:r>
              <a:rPr lang="en-US" sz="2000" b="1" dirty="0">
                <a:cs typeface="Segoe UI" panose="020B0502040204020203" pitchFamily="34" charset="0"/>
              </a:rPr>
              <a:t>    Example:</a:t>
            </a:r>
            <a:br>
              <a:rPr lang="en-US" sz="2000" dirty="0">
                <a:cs typeface="Segoe UI" panose="020B0502040204020203" pitchFamily="34" charset="0"/>
              </a:rPr>
            </a:br>
            <a:r>
              <a:rPr lang="en-US" sz="2000" dirty="0">
                <a:cs typeface="Segoe UI" panose="020B0502040204020203" pitchFamily="34" charset="0"/>
              </a:rPr>
              <a:t>For an e-commerce platform, AI can forecast higher traffic during sales events and recommend scaling cloud resources in advance.</a:t>
            </a:r>
          </a:p>
          <a:p>
            <a:pPr fontAlgn="t">
              <a:lnSpc>
                <a:spcPct val="100000"/>
              </a:lnSpc>
              <a:buNone/>
            </a:pPr>
            <a:r>
              <a:rPr lang="en-US" sz="2000" b="1" dirty="0">
                <a:cs typeface="Segoe UI" panose="020B0502040204020203" pitchFamily="34" charset="0"/>
              </a:rPr>
              <a:t>    Benefit:</a:t>
            </a:r>
            <a:r>
              <a:rPr lang="en-US" sz="2000" dirty="0">
                <a:cs typeface="Segoe UI" panose="020B0502040204020203" pitchFamily="34" charset="0"/>
              </a:rPr>
              <a:t> Prevents system crashes, ensures smooth user experience, and optimizes resource utilization.</a:t>
            </a:r>
          </a:p>
          <a:p>
            <a:pPr>
              <a:lnSpc>
                <a:spcPct val="100000"/>
              </a:lnSpc>
            </a:pPr>
            <a:endParaRPr lang="en-IN" sz="2000" dirty="0">
              <a:cs typeface="Segoe UI" panose="020B0502040204020203" pitchFamily="34" charset="0"/>
            </a:endParaRPr>
          </a:p>
        </p:txBody>
      </p:sp>
    </p:spTree>
    <p:extLst>
      <p:ext uri="{BB962C8B-B14F-4D97-AF65-F5344CB8AC3E}">
        <p14:creationId xmlns:p14="http://schemas.microsoft.com/office/powerpoint/2010/main" val="1694281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33F21D-1C0D-A87C-4EFF-19D70EC6F343}"/>
              </a:ext>
            </a:extLst>
          </p:cNvPr>
          <p:cNvSpPr>
            <a:spLocks noGrp="1"/>
          </p:cNvSpPr>
          <p:nvPr>
            <p:ph type="title"/>
          </p:nvPr>
        </p:nvSpPr>
        <p:spPr>
          <a:xfrm>
            <a:off x="1118024" y="2491685"/>
            <a:ext cx="4977976" cy="1454051"/>
          </a:xfrm>
        </p:spPr>
        <p:txBody>
          <a:bodyPr>
            <a:normAutofit/>
          </a:bodyPr>
          <a:lstStyle/>
          <a:p>
            <a:r>
              <a:rPr lang="en-US" sz="6000" dirty="0">
                <a:solidFill>
                  <a:schemeClr val="tx2"/>
                </a:solidFill>
              </a:rPr>
              <a:t>THANK YOU</a:t>
            </a:r>
            <a:endParaRPr lang="en-IN" sz="6000" dirty="0">
              <a:solidFill>
                <a:schemeClr val="tx2"/>
              </a:solidFill>
            </a:endParaRPr>
          </a:p>
        </p:txBody>
      </p:sp>
      <p:sp>
        <p:nvSpPr>
          <p:cNvPr id="3" name="Content Placeholder 2">
            <a:extLst>
              <a:ext uri="{FF2B5EF4-FFF2-40B4-BE49-F238E27FC236}">
                <a16:creationId xmlns:a16="http://schemas.microsoft.com/office/drawing/2014/main" id="{9031D489-1D33-E99E-C1D4-E7462702A2A9}"/>
              </a:ext>
            </a:extLst>
          </p:cNvPr>
          <p:cNvSpPr>
            <a:spLocks noGrp="1"/>
          </p:cNvSpPr>
          <p:nvPr>
            <p:ph idx="1"/>
          </p:nvPr>
        </p:nvSpPr>
        <p:spPr>
          <a:xfrm>
            <a:off x="754091" y="7064021"/>
            <a:ext cx="4977578" cy="3639289"/>
          </a:xfrm>
        </p:spPr>
        <p:txBody>
          <a:bodyPr anchor="ctr">
            <a:normAutofit/>
          </a:bodyPr>
          <a:lstStyle/>
          <a:p>
            <a:pPr marL="0" indent="0">
              <a:buNone/>
            </a:pPr>
            <a:endParaRPr lang="en-IN" sz="1800" dirty="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Smiling Face with No Fill">
            <a:extLst>
              <a:ext uri="{FF2B5EF4-FFF2-40B4-BE49-F238E27FC236}">
                <a16:creationId xmlns:a16="http://schemas.microsoft.com/office/drawing/2014/main" id="{9FC4CA91-76BF-801C-2240-E82ED73992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22047740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417</TotalTime>
  <Words>1529</Words>
  <Application>Microsoft Office PowerPoint</Application>
  <PresentationFormat>Widescreen</PresentationFormat>
  <Paragraphs>126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Segoe UI</vt:lpstr>
      <vt:lpstr>Office Theme</vt:lpstr>
      <vt:lpstr>Jmeter Reverse KT</vt:lpstr>
      <vt:lpstr>Phases of Performance Testing</vt:lpstr>
      <vt:lpstr>Types of Performance Testing</vt:lpstr>
      <vt:lpstr>Client-side VS Server-side</vt:lpstr>
      <vt:lpstr>Key Components of Jmeter</vt:lpstr>
      <vt:lpstr>Key Components of Jmeter</vt:lpstr>
      <vt:lpstr>Scripting CheckList</vt:lpstr>
      <vt:lpstr>Scripting CheckList</vt:lpstr>
      <vt:lpstr>Terminologies in Jmeter  Scenario Design</vt:lpstr>
      <vt:lpstr>Aggregate Report Terminologies</vt:lpstr>
      <vt:lpstr>Sections in summary report</vt:lpstr>
      <vt:lpstr>AI, Gen AI, Agentic AI</vt:lpstr>
      <vt:lpstr>Prompt Engineering</vt:lpstr>
      <vt:lpstr>AI in Performance engineer</vt:lpstr>
      <vt:lpstr>AI in Performance engineer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Yerra, Srija</dc:creator>
  <cp:lastModifiedBy>Yerra, Srija</cp:lastModifiedBy>
  <cp:revision>3</cp:revision>
  <dcterms:created xsi:type="dcterms:W3CDTF">2026-06-02T10:52:00Z</dcterms:created>
  <dcterms:modified xsi:type="dcterms:W3CDTF">2026-06-03T09:12:21Z</dcterms:modified>
</cp:coreProperties>
</file>